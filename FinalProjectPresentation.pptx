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7" r:id="rId7"/>
    <p:sldId id="269" r:id="rId8"/>
    <p:sldId id="280" r:id="rId9"/>
    <p:sldId id="281" r:id="rId10"/>
    <p:sldId id="279" r:id="rId11"/>
    <p:sldId id="276" r:id="rId12"/>
    <p:sldId id="274" r:id="rId13"/>
    <p:sldId id="275" r:id="rId14"/>
    <p:sldId id="278" r:id="rId15"/>
    <p:sldId id="277"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B1700E-CE2B-4784-F712-5193933C0CFC}" v="51" dt="2025-07-19T17:08:00.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6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kir Jan" userId="c9bc4342b113f08b" providerId="Windows Live" clId="Web-{26B1700E-CE2B-4784-F712-5193933C0CFC}"/>
    <pc:docChg chg="modSld">
      <pc:chgData name="Shakir Jan" userId="c9bc4342b113f08b" providerId="Windows Live" clId="Web-{26B1700E-CE2B-4784-F712-5193933C0CFC}" dt="2025-07-19T17:08:00.661" v="49" actId="20577"/>
      <pc:docMkLst>
        <pc:docMk/>
      </pc:docMkLst>
      <pc:sldChg chg="modSp">
        <pc:chgData name="Shakir Jan" userId="c9bc4342b113f08b" providerId="Windows Live" clId="Web-{26B1700E-CE2B-4784-F712-5193933C0CFC}" dt="2025-07-19T17:08:00.661" v="49" actId="20577"/>
        <pc:sldMkLst>
          <pc:docMk/>
          <pc:sldMk cId="3718469311" sldId="256"/>
        </pc:sldMkLst>
        <pc:spChg chg="mod">
          <ac:chgData name="Shakir Jan" userId="c9bc4342b113f08b" providerId="Windows Live" clId="Web-{26B1700E-CE2B-4784-F712-5193933C0CFC}" dt="2025-07-19T17:08:00.661" v="49" actId="20577"/>
          <ac:spMkLst>
            <pc:docMk/>
            <pc:sldMk cId="3718469311" sldId="256"/>
            <ac:spMk id="3" creationId="{6A9F84D0-41FB-87DC-882B-5ADB0275D46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25FF0C-9F15-4A8D-B27C-B7668633FB7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062DD82-BE78-4772-B4F7-D840E210980A}">
      <dgm:prSet/>
      <dgm:spPr/>
      <dgm:t>
        <a:bodyPr/>
        <a:lstStyle/>
        <a:p>
          <a:pPr algn="just">
            <a:lnSpc>
              <a:spcPct val="100000"/>
            </a:lnSpc>
          </a:pPr>
          <a:r>
            <a:rPr lang="en-US" dirty="0"/>
            <a:t>Creating an intelligent AI agent that can play Doom video game with improved decision-making skills in different scenarios using reinforcement learning. </a:t>
          </a:r>
        </a:p>
      </dgm:t>
    </dgm:pt>
    <dgm:pt modelId="{46D835FD-270A-480F-82D7-B80D4E957923}" type="parTrans" cxnId="{8149A3DA-9465-4BBA-8EAA-E799F48799DA}">
      <dgm:prSet/>
      <dgm:spPr/>
      <dgm:t>
        <a:bodyPr/>
        <a:lstStyle/>
        <a:p>
          <a:endParaRPr lang="en-US"/>
        </a:p>
      </dgm:t>
    </dgm:pt>
    <dgm:pt modelId="{4AB9C921-EE03-4724-8CFD-43D4DB9D3C9B}" type="sibTrans" cxnId="{8149A3DA-9465-4BBA-8EAA-E799F48799DA}">
      <dgm:prSet/>
      <dgm:spPr/>
      <dgm:t>
        <a:bodyPr/>
        <a:lstStyle/>
        <a:p>
          <a:pPr>
            <a:lnSpc>
              <a:spcPct val="100000"/>
            </a:lnSpc>
          </a:pPr>
          <a:endParaRPr lang="en-US"/>
        </a:p>
      </dgm:t>
    </dgm:pt>
    <dgm:pt modelId="{EC010794-F6A4-4EE4-B4B4-43602A391AFB}">
      <dgm:prSet/>
      <dgm:spPr/>
      <dgm:t>
        <a:bodyPr/>
        <a:lstStyle/>
        <a:p>
          <a:pPr algn="just">
            <a:lnSpc>
              <a:spcPct val="100000"/>
            </a:lnSpc>
          </a:pPr>
          <a:r>
            <a:rPr lang="en-US" dirty="0"/>
            <a:t>The agent will face various conditions like different no of enemies, different gaming levels which will improve its behavior and decisions through experiences.</a:t>
          </a:r>
        </a:p>
      </dgm:t>
    </dgm:pt>
    <dgm:pt modelId="{561BF5D4-A967-4042-951E-EF03C9072B6E}" type="parTrans" cxnId="{7D7D30E9-F434-4490-9242-002CBA3AF064}">
      <dgm:prSet/>
      <dgm:spPr/>
      <dgm:t>
        <a:bodyPr/>
        <a:lstStyle/>
        <a:p>
          <a:endParaRPr lang="en-US"/>
        </a:p>
      </dgm:t>
    </dgm:pt>
    <dgm:pt modelId="{A91A41AB-C388-4686-95D7-585ABA0ED3A5}" type="sibTrans" cxnId="{7D7D30E9-F434-4490-9242-002CBA3AF064}">
      <dgm:prSet/>
      <dgm:spPr/>
      <dgm:t>
        <a:bodyPr/>
        <a:lstStyle/>
        <a:p>
          <a:endParaRPr lang="en-US"/>
        </a:p>
      </dgm:t>
    </dgm:pt>
    <dgm:pt modelId="{1E170786-2612-425B-AF35-FFD199DF96B1}" type="pres">
      <dgm:prSet presAssocID="{7725FF0C-9F15-4A8D-B27C-B7668633FB73}" presName="root" presStyleCnt="0">
        <dgm:presLayoutVars>
          <dgm:dir/>
          <dgm:resizeHandles val="exact"/>
        </dgm:presLayoutVars>
      </dgm:prSet>
      <dgm:spPr/>
    </dgm:pt>
    <dgm:pt modelId="{9654AEFC-5991-49E2-A0ED-7DA9157D798A}" type="pres">
      <dgm:prSet presAssocID="{7725FF0C-9F15-4A8D-B27C-B7668633FB73}" presName="container" presStyleCnt="0">
        <dgm:presLayoutVars>
          <dgm:dir/>
          <dgm:resizeHandles val="exact"/>
        </dgm:presLayoutVars>
      </dgm:prSet>
      <dgm:spPr/>
    </dgm:pt>
    <dgm:pt modelId="{D8640A88-C540-4F2F-B702-3429572472D4}" type="pres">
      <dgm:prSet presAssocID="{6062DD82-BE78-4772-B4F7-D840E210980A}" presName="compNode" presStyleCnt="0"/>
      <dgm:spPr/>
    </dgm:pt>
    <dgm:pt modelId="{7F1F313B-B46D-47AC-AC96-DD0B6A228049}" type="pres">
      <dgm:prSet presAssocID="{6062DD82-BE78-4772-B4F7-D840E210980A}" presName="iconBgRect" presStyleLbl="bgShp" presStyleIdx="0" presStyleCnt="2"/>
      <dgm:spPr/>
    </dgm:pt>
    <dgm:pt modelId="{12FCCEFD-4333-4E93-A068-EDB04A44D4D4}" type="pres">
      <dgm:prSet presAssocID="{6062DD82-BE78-4772-B4F7-D840E210980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6EAD6D5F-212B-4ECF-A579-D369F98240EC}" type="pres">
      <dgm:prSet presAssocID="{6062DD82-BE78-4772-B4F7-D840E210980A}" presName="spaceRect" presStyleCnt="0"/>
      <dgm:spPr/>
    </dgm:pt>
    <dgm:pt modelId="{C86BCC40-3B5F-4656-9A05-1D6C79B31886}" type="pres">
      <dgm:prSet presAssocID="{6062DD82-BE78-4772-B4F7-D840E210980A}" presName="textRect" presStyleLbl="revTx" presStyleIdx="0" presStyleCnt="2">
        <dgm:presLayoutVars>
          <dgm:chMax val="1"/>
          <dgm:chPref val="1"/>
        </dgm:presLayoutVars>
      </dgm:prSet>
      <dgm:spPr/>
    </dgm:pt>
    <dgm:pt modelId="{AED8B552-E648-4571-A282-63A9FFE2A4B0}" type="pres">
      <dgm:prSet presAssocID="{4AB9C921-EE03-4724-8CFD-43D4DB9D3C9B}" presName="sibTrans" presStyleLbl="sibTrans2D1" presStyleIdx="0" presStyleCnt="0"/>
      <dgm:spPr/>
    </dgm:pt>
    <dgm:pt modelId="{E415C871-8B7B-4C64-A882-22FB3D0CFB56}" type="pres">
      <dgm:prSet presAssocID="{EC010794-F6A4-4EE4-B4B4-43602A391AFB}" presName="compNode" presStyleCnt="0"/>
      <dgm:spPr/>
    </dgm:pt>
    <dgm:pt modelId="{6F60FDFF-1AC4-44A5-BC12-95D1F4E88523}" type="pres">
      <dgm:prSet presAssocID="{EC010794-F6A4-4EE4-B4B4-43602A391AFB}" presName="iconBgRect" presStyleLbl="bgShp" presStyleIdx="1" presStyleCnt="2"/>
      <dgm:spPr/>
    </dgm:pt>
    <dgm:pt modelId="{AE30260B-2C2E-40AB-B7AC-B9046087F202}" type="pres">
      <dgm:prSet presAssocID="{EC010794-F6A4-4EE4-B4B4-43602A391AF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me controller"/>
        </a:ext>
      </dgm:extLst>
    </dgm:pt>
    <dgm:pt modelId="{01DE5E34-63D6-4A58-81AC-5489925EDD24}" type="pres">
      <dgm:prSet presAssocID="{EC010794-F6A4-4EE4-B4B4-43602A391AFB}" presName="spaceRect" presStyleCnt="0"/>
      <dgm:spPr/>
    </dgm:pt>
    <dgm:pt modelId="{74A7341C-9751-49DA-A0B5-5903A5847198}" type="pres">
      <dgm:prSet presAssocID="{EC010794-F6A4-4EE4-B4B4-43602A391AFB}" presName="textRect" presStyleLbl="revTx" presStyleIdx="1" presStyleCnt="2">
        <dgm:presLayoutVars>
          <dgm:chMax val="1"/>
          <dgm:chPref val="1"/>
        </dgm:presLayoutVars>
      </dgm:prSet>
      <dgm:spPr/>
    </dgm:pt>
  </dgm:ptLst>
  <dgm:cxnLst>
    <dgm:cxn modelId="{9D01A023-BD6C-405F-A0BF-7C399773A26D}" type="presOf" srcId="{4AB9C921-EE03-4724-8CFD-43D4DB9D3C9B}" destId="{AED8B552-E648-4571-A282-63A9FFE2A4B0}" srcOrd="0" destOrd="0" presId="urn:microsoft.com/office/officeart/2018/2/layout/IconCircleList"/>
    <dgm:cxn modelId="{B661518F-7152-45F1-94CC-2F3BF3A3ACE4}" type="presOf" srcId="{6062DD82-BE78-4772-B4F7-D840E210980A}" destId="{C86BCC40-3B5F-4656-9A05-1D6C79B31886}" srcOrd="0" destOrd="0" presId="urn:microsoft.com/office/officeart/2018/2/layout/IconCircleList"/>
    <dgm:cxn modelId="{503DE3A5-DE57-4B91-94DA-BB6F797155D8}" type="presOf" srcId="{7725FF0C-9F15-4A8D-B27C-B7668633FB73}" destId="{1E170786-2612-425B-AF35-FFD199DF96B1}" srcOrd="0" destOrd="0" presId="urn:microsoft.com/office/officeart/2018/2/layout/IconCircleList"/>
    <dgm:cxn modelId="{E4B5ADC1-0E47-43AC-8D77-72BDC04DB3C5}" type="presOf" srcId="{EC010794-F6A4-4EE4-B4B4-43602A391AFB}" destId="{74A7341C-9751-49DA-A0B5-5903A5847198}" srcOrd="0" destOrd="0" presId="urn:microsoft.com/office/officeart/2018/2/layout/IconCircleList"/>
    <dgm:cxn modelId="{8149A3DA-9465-4BBA-8EAA-E799F48799DA}" srcId="{7725FF0C-9F15-4A8D-B27C-B7668633FB73}" destId="{6062DD82-BE78-4772-B4F7-D840E210980A}" srcOrd="0" destOrd="0" parTransId="{46D835FD-270A-480F-82D7-B80D4E957923}" sibTransId="{4AB9C921-EE03-4724-8CFD-43D4DB9D3C9B}"/>
    <dgm:cxn modelId="{7D7D30E9-F434-4490-9242-002CBA3AF064}" srcId="{7725FF0C-9F15-4A8D-B27C-B7668633FB73}" destId="{EC010794-F6A4-4EE4-B4B4-43602A391AFB}" srcOrd="1" destOrd="0" parTransId="{561BF5D4-A967-4042-951E-EF03C9072B6E}" sibTransId="{A91A41AB-C388-4686-95D7-585ABA0ED3A5}"/>
    <dgm:cxn modelId="{2AE7F7BA-6105-4E8F-BAF4-AFB66E9754CF}" type="presParOf" srcId="{1E170786-2612-425B-AF35-FFD199DF96B1}" destId="{9654AEFC-5991-49E2-A0ED-7DA9157D798A}" srcOrd="0" destOrd="0" presId="urn:microsoft.com/office/officeart/2018/2/layout/IconCircleList"/>
    <dgm:cxn modelId="{94AF19F7-C594-4122-B171-080E14875995}" type="presParOf" srcId="{9654AEFC-5991-49E2-A0ED-7DA9157D798A}" destId="{D8640A88-C540-4F2F-B702-3429572472D4}" srcOrd="0" destOrd="0" presId="urn:microsoft.com/office/officeart/2018/2/layout/IconCircleList"/>
    <dgm:cxn modelId="{E11084C8-84B1-4EDB-9C56-A65185FC9295}" type="presParOf" srcId="{D8640A88-C540-4F2F-B702-3429572472D4}" destId="{7F1F313B-B46D-47AC-AC96-DD0B6A228049}" srcOrd="0" destOrd="0" presId="urn:microsoft.com/office/officeart/2018/2/layout/IconCircleList"/>
    <dgm:cxn modelId="{7F71EA91-B762-4106-B260-4CAF09D1CA7D}" type="presParOf" srcId="{D8640A88-C540-4F2F-B702-3429572472D4}" destId="{12FCCEFD-4333-4E93-A068-EDB04A44D4D4}" srcOrd="1" destOrd="0" presId="urn:microsoft.com/office/officeart/2018/2/layout/IconCircleList"/>
    <dgm:cxn modelId="{8A43AD4E-CA45-4C0F-9CB2-BED4413BF7FF}" type="presParOf" srcId="{D8640A88-C540-4F2F-B702-3429572472D4}" destId="{6EAD6D5F-212B-4ECF-A579-D369F98240EC}" srcOrd="2" destOrd="0" presId="urn:microsoft.com/office/officeart/2018/2/layout/IconCircleList"/>
    <dgm:cxn modelId="{100EEB80-142D-4277-96E4-769C9E182333}" type="presParOf" srcId="{D8640A88-C540-4F2F-B702-3429572472D4}" destId="{C86BCC40-3B5F-4656-9A05-1D6C79B31886}" srcOrd="3" destOrd="0" presId="urn:microsoft.com/office/officeart/2018/2/layout/IconCircleList"/>
    <dgm:cxn modelId="{DE289EAC-2752-449B-8620-40D2396DD5D1}" type="presParOf" srcId="{9654AEFC-5991-49E2-A0ED-7DA9157D798A}" destId="{AED8B552-E648-4571-A282-63A9FFE2A4B0}" srcOrd="1" destOrd="0" presId="urn:microsoft.com/office/officeart/2018/2/layout/IconCircleList"/>
    <dgm:cxn modelId="{AE6EAC31-0BEB-478C-A4DF-CA903DFEE265}" type="presParOf" srcId="{9654AEFC-5991-49E2-A0ED-7DA9157D798A}" destId="{E415C871-8B7B-4C64-A882-22FB3D0CFB56}" srcOrd="2" destOrd="0" presId="urn:microsoft.com/office/officeart/2018/2/layout/IconCircleList"/>
    <dgm:cxn modelId="{705F9F0C-8E75-41A5-9475-7E4D71FE4DF7}" type="presParOf" srcId="{E415C871-8B7B-4C64-A882-22FB3D0CFB56}" destId="{6F60FDFF-1AC4-44A5-BC12-95D1F4E88523}" srcOrd="0" destOrd="0" presId="urn:microsoft.com/office/officeart/2018/2/layout/IconCircleList"/>
    <dgm:cxn modelId="{FE33211D-C5B3-4684-8B76-A3944EFAA184}" type="presParOf" srcId="{E415C871-8B7B-4C64-A882-22FB3D0CFB56}" destId="{AE30260B-2C2E-40AB-B7AC-B9046087F202}" srcOrd="1" destOrd="0" presId="urn:microsoft.com/office/officeart/2018/2/layout/IconCircleList"/>
    <dgm:cxn modelId="{6E09BC0E-168A-4EAF-BA57-CDE94C40E6E8}" type="presParOf" srcId="{E415C871-8B7B-4C64-A882-22FB3D0CFB56}" destId="{01DE5E34-63D6-4A58-81AC-5489925EDD24}" srcOrd="2" destOrd="0" presId="urn:microsoft.com/office/officeart/2018/2/layout/IconCircleList"/>
    <dgm:cxn modelId="{143F664B-09AE-43FF-912C-ECB44F9694B1}" type="presParOf" srcId="{E415C871-8B7B-4C64-A882-22FB3D0CFB56}" destId="{74A7341C-9751-49DA-A0B5-5903A584719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1F313B-B46D-47AC-AC96-DD0B6A228049}">
      <dsp:nvSpPr>
        <dsp:cNvPr id="0" name=""/>
        <dsp:cNvSpPr/>
      </dsp:nvSpPr>
      <dsp:spPr>
        <a:xfrm>
          <a:off x="459284" y="1151643"/>
          <a:ext cx="1463372" cy="146337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FCCEFD-4333-4E93-A068-EDB04A44D4D4}">
      <dsp:nvSpPr>
        <dsp:cNvPr id="0" name=""/>
        <dsp:cNvSpPr/>
      </dsp:nvSpPr>
      <dsp:spPr>
        <a:xfrm>
          <a:off x="766592" y="1458951"/>
          <a:ext cx="848756" cy="848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6BCC40-3B5F-4656-9A05-1D6C79B31886}">
      <dsp:nvSpPr>
        <dsp:cNvPr id="0" name=""/>
        <dsp:cNvSpPr/>
      </dsp:nvSpPr>
      <dsp:spPr>
        <a:xfrm>
          <a:off x="2236237" y="1151643"/>
          <a:ext cx="3449378" cy="1463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n-US" sz="1800" kern="1200" dirty="0"/>
            <a:t>Creating an intelligent AI agent that can play Doom video game with improved decision-making skills in different scenarios using reinforcement learning. </a:t>
          </a:r>
        </a:p>
      </dsp:txBody>
      <dsp:txXfrm>
        <a:off x="2236237" y="1151643"/>
        <a:ext cx="3449378" cy="1463372"/>
      </dsp:txXfrm>
    </dsp:sp>
    <dsp:sp modelId="{6F60FDFF-1AC4-44A5-BC12-95D1F4E88523}">
      <dsp:nvSpPr>
        <dsp:cNvPr id="0" name=""/>
        <dsp:cNvSpPr/>
      </dsp:nvSpPr>
      <dsp:spPr>
        <a:xfrm>
          <a:off x="6286644" y="1151643"/>
          <a:ext cx="1463372" cy="146337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30260B-2C2E-40AB-B7AC-B9046087F202}">
      <dsp:nvSpPr>
        <dsp:cNvPr id="0" name=""/>
        <dsp:cNvSpPr/>
      </dsp:nvSpPr>
      <dsp:spPr>
        <a:xfrm>
          <a:off x="6593952" y="1458951"/>
          <a:ext cx="848756" cy="8487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A7341C-9751-49DA-A0B5-5903A5847198}">
      <dsp:nvSpPr>
        <dsp:cNvPr id="0" name=""/>
        <dsp:cNvSpPr/>
      </dsp:nvSpPr>
      <dsp:spPr>
        <a:xfrm>
          <a:off x="8063596" y="1151643"/>
          <a:ext cx="3449378" cy="1463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n-US" sz="1800" kern="1200" dirty="0"/>
            <a:t>The agent will face various conditions like different no of enemies, different gaming levels which will improve its behavior and decisions through experiences.</a:t>
          </a:r>
        </a:p>
      </dsp:txBody>
      <dsp:txXfrm>
        <a:off x="8063596" y="1151643"/>
        <a:ext cx="3449378" cy="146337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FF04D-5C01-D20E-2543-4295575D50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FE3C77-FB8E-97F7-1F48-FC06199549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5B7DAA-287F-8A87-A5B3-A06D080992EC}"/>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5" name="Footer Placeholder 4">
            <a:extLst>
              <a:ext uri="{FF2B5EF4-FFF2-40B4-BE49-F238E27FC236}">
                <a16:creationId xmlns:a16="http://schemas.microsoft.com/office/drawing/2014/main" id="{45ED8E29-C713-AA5B-4AF6-31A85408C7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291BA-4814-C3DE-F00F-B6AECAB518A9}"/>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2023248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7DF19-D838-A11E-A282-1576D355B0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0ECAA1-7E72-406C-0D37-9174DD36D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B122D3-5CC0-D7BF-6404-E0BEC22B5B73}"/>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5" name="Footer Placeholder 4">
            <a:extLst>
              <a:ext uri="{FF2B5EF4-FFF2-40B4-BE49-F238E27FC236}">
                <a16:creationId xmlns:a16="http://schemas.microsoft.com/office/drawing/2014/main" id="{CA20C53A-EACB-D7C6-8707-A95074F2E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99DFB9-F41C-F09C-C13A-82BB8365E426}"/>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3237947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B654C-B98C-BF62-7948-8B873B6783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529F0F-1EB2-DCB1-1D92-FD087197EF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3C8C1F-3ACD-FD6F-D94A-16322A9025EE}"/>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5" name="Footer Placeholder 4">
            <a:extLst>
              <a:ext uri="{FF2B5EF4-FFF2-40B4-BE49-F238E27FC236}">
                <a16:creationId xmlns:a16="http://schemas.microsoft.com/office/drawing/2014/main" id="{0BE123A5-A1BF-71C4-627D-511295B95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C3F706-67B1-CF80-DF88-566AC81DA48F}"/>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3508638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22473-19B5-F619-3643-702C687EA5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14494-C4E6-B2B9-0429-2C32D4ECC2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4A8AAC-136A-6AF2-7173-0F540C9F82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914299-526B-2AE8-52F2-65C99A957EAB}"/>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6" name="Footer Placeholder 5">
            <a:extLst>
              <a:ext uri="{FF2B5EF4-FFF2-40B4-BE49-F238E27FC236}">
                <a16:creationId xmlns:a16="http://schemas.microsoft.com/office/drawing/2014/main" id="{67FC120D-A4D3-A143-EC81-21699F8860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326086-BAC7-097B-E6BC-3E3B56030156}"/>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1750612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AB50F-97FC-6006-0F18-C452AF83BA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7BEC5A-A4E9-F26C-C741-77AE46F582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60781C-05F1-F88B-3942-59D76A978C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6ADF2B-6EA1-1563-19EA-94609EFE9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A7D470-1023-ECDE-9D55-D6CB35FE1E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6CC77C-AA9A-DCBB-B4F8-AA495E0B6DA4}"/>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8" name="Footer Placeholder 7">
            <a:extLst>
              <a:ext uri="{FF2B5EF4-FFF2-40B4-BE49-F238E27FC236}">
                <a16:creationId xmlns:a16="http://schemas.microsoft.com/office/drawing/2014/main" id="{E0154264-08D2-07DC-2319-277FABEC0F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2F3297-037C-8381-BAE3-4BAAB62470F2}"/>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3048380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9C99E-3587-C9F0-9AAE-C0FBE6EECB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EF4DA6-1453-8033-AEAE-0D7E2328EA77}"/>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4" name="Footer Placeholder 3">
            <a:extLst>
              <a:ext uri="{FF2B5EF4-FFF2-40B4-BE49-F238E27FC236}">
                <a16:creationId xmlns:a16="http://schemas.microsoft.com/office/drawing/2014/main" id="{877D89EE-E77C-0277-59DC-9CD16ECABA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403CD4-0A4F-E0D5-B852-25BC1B1EC190}"/>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1845941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4D155A-5808-8431-A8EF-60724BE63913}"/>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3" name="Footer Placeholder 2">
            <a:extLst>
              <a:ext uri="{FF2B5EF4-FFF2-40B4-BE49-F238E27FC236}">
                <a16:creationId xmlns:a16="http://schemas.microsoft.com/office/drawing/2014/main" id="{95161C4E-24EC-A8CB-8710-1CFB173D15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22210E-5DF0-A6F3-B326-548D8F24F548}"/>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410632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216C1-2B0F-7BB7-EC8C-99EEEFD074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DAC5B4-8433-A250-E66C-567D82F0C4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0337AF-A5FE-9137-91D8-6E8294164B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356748-AF21-C8F1-600C-C5277A2468E9}"/>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6" name="Footer Placeholder 5">
            <a:extLst>
              <a:ext uri="{FF2B5EF4-FFF2-40B4-BE49-F238E27FC236}">
                <a16:creationId xmlns:a16="http://schemas.microsoft.com/office/drawing/2014/main" id="{F46E4155-07AC-38DD-7B36-46A21BB45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D4D6F-7923-DEE2-AA54-222330546565}"/>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3415155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F7C0-A2B1-AE6E-7E89-562A506210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13912F-BE38-8595-4832-CBEB664DD9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BFE133-136E-57C4-B044-7245AC234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5ABED9-DFF4-A86B-8F8D-8E5DB877EF2E}"/>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6" name="Footer Placeholder 5">
            <a:extLst>
              <a:ext uri="{FF2B5EF4-FFF2-40B4-BE49-F238E27FC236}">
                <a16:creationId xmlns:a16="http://schemas.microsoft.com/office/drawing/2014/main" id="{48A78A8B-F5B7-2776-E039-362B5297F5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E024B-3ABB-5A71-24B7-995C5F7DD525}"/>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2738675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3216-3024-5ABD-AEF4-F53066CBAB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353BED-9952-D1CF-A410-A1AF41CE0F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16AEF-9EC0-C7DC-2D60-0CA04D4596C4}"/>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5" name="Footer Placeholder 4">
            <a:extLst>
              <a:ext uri="{FF2B5EF4-FFF2-40B4-BE49-F238E27FC236}">
                <a16:creationId xmlns:a16="http://schemas.microsoft.com/office/drawing/2014/main" id="{E2D29E5E-F1F9-181E-D419-DE056743F2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4153B-9610-3F2A-BBA8-32AFA4718212}"/>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312029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65A30-C1DD-C222-5087-271A01D75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CEC6BC-D68A-6A15-5A35-08E5652FE4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1FCC9-7A39-BC79-FB74-CEE0A464C036}"/>
              </a:ext>
            </a:extLst>
          </p:cNvPr>
          <p:cNvSpPr>
            <a:spLocks noGrp="1"/>
          </p:cNvSpPr>
          <p:nvPr>
            <p:ph type="dt" sz="half" idx="10"/>
          </p:nvPr>
        </p:nvSpPr>
        <p:spPr/>
        <p:txBody>
          <a:bodyPr/>
          <a:lstStyle/>
          <a:p>
            <a:fld id="{5F7305D4-9C0B-4291-AFBE-B0FA3857A0CA}" type="datetimeFigureOut">
              <a:rPr lang="en-US" smtClean="0"/>
              <a:t>7/19/2025</a:t>
            </a:fld>
            <a:endParaRPr lang="en-US"/>
          </a:p>
        </p:txBody>
      </p:sp>
      <p:sp>
        <p:nvSpPr>
          <p:cNvPr id="5" name="Footer Placeholder 4">
            <a:extLst>
              <a:ext uri="{FF2B5EF4-FFF2-40B4-BE49-F238E27FC236}">
                <a16:creationId xmlns:a16="http://schemas.microsoft.com/office/drawing/2014/main" id="{CCCA34BA-2926-BDC6-A61A-F1AE15DC6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C9CA7-3C54-15F2-2968-4508C05E8F26}"/>
              </a:ext>
            </a:extLst>
          </p:cNvPr>
          <p:cNvSpPr>
            <a:spLocks noGrp="1"/>
          </p:cNvSpPr>
          <p:nvPr>
            <p:ph type="sldNum" sz="quarter" idx="12"/>
          </p:nvPr>
        </p:nvSpPr>
        <p:spPr/>
        <p:txBody>
          <a:bodyPr/>
          <a:lstStyle/>
          <a:p>
            <a:fld id="{D0A7B1DB-8561-47FB-9A3D-BB0268121F28}" type="slidenum">
              <a:rPr lang="en-US" smtClean="0"/>
              <a:t>‹#›</a:t>
            </a:fld>
            <a:endParaRPr lang="en-US"/>
          </a:p>
        </p:txBody>
      </p:sp>
    </p:spTree>
    <p:extLst>
      <p:ext uri="{BB962C8B-B14F-4D97-AF65-F5344CB8AC3E}">
        <p14:creationId xmlns:p14="http://schemas.microsoft.com/office/powerpoint/2010/main" val="485814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FF24C6-07B1-2073-DB44-E1CBC42DDB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F8FEEF-4E24-D0FA-1F75-79689ADD90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E51C6E-FC13-79DC-ED49-BD5616E538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7305D4-9C0B-4291-AFBE-B0FA3857A0CA}" type="datetimeFigureOut">
              <a:rPr lang="en-US" smtClean="0"/>
              <a:t>7/19/2025</a:t>
            </a:fld>
            <a:endParaRPr lang="en-US"/>
          </a:p>
        </p:txBody>
      </p:sp>
      <p:sp>
        <p:nvSpPr>
          <p:cNvPr id="5" name="Footer Placeholder 4">
            <a:extLst>
              <a:ext uri="{FF2B5EF4-FFF2-40B4-BE49-F238E27FC236}">
                <a16:creationId xmlns:a16="http://schemas.microsoft.com/office/drawing/2014/main" id="{ACF2A015-8664-976C-20DE-1626D30E1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AFB8DF-2321-4F79-454D-D82DAEACE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A7B1DB-8561-47FB-9A3D-BB0268121F28}" type="slidenum">
              <a:rPr lang="en-US" smtClean="0"/>
              <a:t>‹#›</a:t>
            </a:fld>
            <a:endParaRPr lang="en-US"/>
          </a:p>
        </p:txBody>
      </p:sp>
    </p:spTree>
    <p:extLst>
      <p:ext uri="{BB962C8B-B14F-4D97-AF65-F5344CB8AC3E}">
        <p14:creationId xmlns:p14="http://schemas.microsoft.com/office/powerpoint/2010/main" val="3042673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11727-20B7-F4A5-B9D1-92BB8DD1AC70}"/>
              </a:ext>
            </a:extLst>
          </p:cNvPr>
          <p:cNvSpPr>
            <a:spLocks noGrp="1"/>
          </p:cNvSpPr>
          <p:nvPr>
            <p:ph type="ctrTitle"/>
          </p:nvPr>
        </p:nvSpPr>
        <p:spPr>
          <a:xfrm>
            <a:off x="464288" y="167323"/>
            <a:ext cx="11263424" cy="2387600"/>
          </a:xfrm>
        </p:spPr>
        <p:txBody>
          <a:bodyPr>
            <a:normAutofit/>
          </a:bodyPr>
          <a:lstStyle/>
          <a:p>
            <a:r>
              <a:rPr lang="en-US" sz="5400" b="1" dirty="0"/>
              <a:t>Enhancing Agents Performance in VizDoom using Reinforcement Learning</a:t>
            </a:r>
          </a:p>
        </p:txBody>
      </p:sp>
      <p:sp>
        <p:nvSpPr>
          <p:cNvPr id="3" name="Subtitle 2">
            <a:extLst>
              <a:ext uri="{FF2B5EF4-FFF2-40B4-BE49-F238E27FC236}">
                <a16:creationId xmlns:a16="http://schemas.microsoft.com/office/drawing/2014/main" id="{6A9F84D0-41FB-87DC-882B-5ADB0275D460}"/>
              </a:ext>
            </a:extLst>
          </p:cNvPr>
          <p:cNvSpPr>
            <a:spLocks noGrp="1"/>
          </p:cNvSpPr>
          <p:nvPr>
            <p:ph type="subTitle" idx="1"/>
          </p:nvPr>
        </p:nvSpPr>
        <p:spPr>
          <a:xfrm>
            <a:off x="0" y="3267075"/>
            <a:ext cx="12192000" cy="3590925"/>
          </a:xfrm>
        </p:spPr>
        <p:txBody>
          <a:bodyPr vert="horz" lIns="91440" tIns="45720" rIns="91440" bIns="45720" rtlCol="0" anchor="t">
            <a:normAutofit/>
          </a:bodyPr>
          <a:lstStyle/>
          <a:p>
            <a:endParaRPr lang="en-US" dirty="0"/>
          </a:p>
          <a:p>
            <a:r>
              <a:rPr lang="en-US" b="1" dirty="0"/>
              <a:t>Group Members: </a:t>
            </a:r>
          </a:p>
          <a:p>
            <a:r>
              <a:rPr lang="en-US" sz="2000" dirty="0"/>
              <a:t>Shakir Jan 						</a:t>
            </a:r>
            <a:r>
              <a:rPr lang="en-US" sz="2000" dirty="0">
                <a:ea typeface="Calibri"/>
                <a:cs typeface="Calibri"/>
              </a:rPr>
              <a:t>Samina Kousar</a:t>
            </a:r>
            <a:br>
              <a:rPr lang="en-US" sz="2000" dirty="0">
                <a:ea typeface="Calibri"/>
                <a:cs typeface="Calibri"/>
              </a:rPr>
            </a:br>
            <a:r>
              <a:rPr lang="en-US" sz="2000" err="1">
                <a:ea typeface="Calibri"/>
                <a:cs typeface="Calibri"/>
              </a:rPr>
              <a:t>Munahil</a:t>
            </a:r>
            <a:r>
              <a:rPr lang="en-US" sz="2000" dirty="0">
                <a:ea typeface="Calibri"/>
                <a:cs typeface="Calibri"/>
              </a:rPr>
              <a:t> Yaqoob</a:t>
            </a:r>
          </a:p>
        </p:txBody>
      </p:sp>
    </p:spTree>
    <p:extLst>
      <p:ext uri="{BB962C8B-B14F-4D97-AF65-F5344CB8AC3E}">
        <p14:creationId xmlns:p14="http://schemas.microsoft.com/office/powerpoint/2010/main" val="3718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1A06F06-14A9-70B4-2B81-C632E1ABCB4B}"/>
              </a:ext>
            </a:extLst>
          </p:cNvPr>
          <p:cNvPicPr>
            <a:picLocks noChangeAspect="1"/>
          </p:cNvPicPr>
          <p:nvPr/>
        </p:nvPicPr>
        <p:blipFill>
          <a:blip r:embed="rId2">
            <a:extLst>
              <a:ext uri="{28A0092B-C50C-407E-A947-70E740481C1C}">
                <a14:useLocalDpi xmlns:a14="http://schemas.microsoft.com/office/drawing/2010/main" val="0"/>
              </a:ext>
            </a:extLst>
          </a:blip>
          <a:srcRect l="24832" r="24832"/>
          <a:stretch/>
        </p:blipFill>
        <p:spPr>
          <a:xfrm>
            <a:off x="6096000" y="0"/>
            <a:ext cx="6088971" cy="6857990"/>
          </a:xfrm>
          <a:prstGeom prst="rect">
            <a:avLst/>
          </a:prstGeom>
        </p:spPr>
      </p:pic>
      <p:sp useBgFill="1">
        <p:nvSpPr>
          <p:cNvPr id="16" name="Rectangle 15">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BAB9D0-6F09-F136-2700-4F3E056E7E74}"/>
              </a:ext>
            </a:extLst>
          </p:cNvPr>
          <p:cNvSpPr>
            <a:spLocks noGrp="1"/>
          </p:cNvSpPr>
          <p:nvPr>
            <p:ph type="title"/>
          </p:nvPr>
        </p:nvSpPr>
        <p:spPr>
          <a:xfrm>
            <a:off x="761801" y="328512"/>
            <a:ext cx="4778387" cy="1628970"/>
          </a:xfrm>
        </p:spPr>
        <p:txBody>
          <a:bodyPr anchor="ctr">
            <a:normAutofit/>
          </a:bodyPr>
          <a:lstStyle/>
          <a:p>
            <a:r>
              <a:rPr lang="en-US" sz="4000" b="1">
                <a:latin typeface="+mn-lt"/>
              </a:rPr>
              <a:t>Introduction: </a:t>
            </a:r>
            <a:endParaRPr lang="en-US" sz="4000" b="1" dirty="0">
              <a:latin typeface="+mn-lt"/>
            </a:endParaRPr>
          </a:p>
        </p:txBody>
      </p:sp>
      <p:sp>
        <p:nvSpPr>
          <p:cNvPr id="3" name="Content Placeholder 2">
            <a:extLst>
              <a:ext uri="{FF2B5EF4-FFF2-40B4-BE49-F238E27FC236}">
                <a16:creationId xmlns:a16="http://schemas.microsoft.com/office/drawing/2014/main" id="{4C0932D3-61FE-0CDD-9FB0-7EBD347F268F}"/>
              </a:ext>
            </a:extLst>
          </p:cNvPr>
          <p:cNvSpPr>
            <a:spLocks noGrp="1"/>
          </p:cNvSpPr>
          <p:nvPr>
            <p:ph idx="1"/>
          </p:nvPr>
        </p:nvSpPr>
        <p:spPr>
          <a:xfrm>
            <a:off x="761801" y="2752724"/>
            <a:ext cx="5232534" cy="3973072"/>
          </a:xfrm>
        </p:spPr>
        <p:txBody>
          <a:bodyPr anchor="ctr">
            <a:normAutofit/>
          </a:bodyPr>
          <a:lstStyle/>
          <a:p>
            <a:pPr marL="0" indent="0" algn="just">
              <a:buNone/>
            </a:pPr>
            <a:r>
              <a:rPr lang="en-US" sz="1800" b="1" dirty="0">
                <a:ea typeface="+mj-ea"/>
                <a:cs typeface="+mj-cs"/>
              </a:rPr>
              <a:t>VizDoom:</a:t>
            </a:r>
            <a:endParaRPr lang="en-US" sz="1800" dirty="0"/>
          </a:p>
          <a:p>
            <a:pPr algn="just"/>
            <a:r>
              <a:rPr lang="en-US" sz="1400" dirty="0"/>
              <a:t>Is a platform to train AI agents for playing Doom Game using visual information. </a:t>
            </a:r>
          </a:p>
          <a:p>
            <a:pPr marL="0" indent="0" algn="just">
              <a:buNone/>
            </a:pPr>
            <a:r>
              <a:rPr lang="en-US" sz="1800" b="1" dirty="0">
                <a:ea typeface="+mj-ea"/>
                <a:cs typeface="+mj-cs"/>
              </a:rPr>
              <a:t>Doom</a:t>
            </a:r>
            <a:r>
              <a:rPr lang="en-US" sz="1800" dirty="0">
                <a:ea typeface="+mj-ea"/>
                <a:cs typeface="+mj-cs"/>
              </a:rPr>
              <a:t>:</a:t>
            </a:r>
          </a:p>
          <a:p>
            <a:pPr algn="just"/>
            <a:r>
              <a:rPr lang="en-US" sz="1400" dirty="0"/>
              <a:t>First-person shooter video game where an AI agent plays the Doom game and  controls it using visual information.</a:t>
            </a:r>
          </a:p>
          <a:p>
            <a:pPr algn="just"/>
            <a:r>
              <a:rPr lang="en-US" sz="1400" dirty="0"/>
              <a:t>This can be done using reinforcement learning where the agent learns to play the game by trial and error.</a:t>
            </a:r>
          </a:p>
          <a:p>
            <a:pPr marL="0" indent="0" algn="just">
              <a:buNone/>
            </a:pPr>
            <a:r>
              <a:rPr lang="en-US" sz="1800" b="1" dirty="0"/>
              <a:t>Reinforcement Learning:</a:t>
            </a:r>
          </a:p>
          <a:p>
            <a:pPr algn="just"/>
            <a:r>
              <a:rPr lang="en-US" sz="1400" dirty="0"/>
              <a:t>Here an agent interacts with the environment through trial-and-error method. </a:t>
            </a:r>
          </a:p>
          <a:p>
            <a:pPr algn="just"/>
            <a:endParaRPr lang="en-US" sz="1400" dirty="0"/>
          </a:p>
          <a:p>
            <a:pPr algn="just"/>
            <a:endParaRPr lang="en-US" sz="1400" dirty="0"/>
          </a:p>
        </p:txBody>
      </p:sp>
    </p:spTree>
    <p:extLst>
      <p:ext uri="{BB962C8B-B14F-4D97-AF65-F5344CB8AC3E}">
        <p14:creationId xmlns:p14="http://schemas.microsoft.com/office/powerpoint/2010/main" val="914201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64BB6-6992-310E-3EB8-2E1A04FBFB46}"/>
              </a:ext>
            </a:extLst>
          </p:cNvPr>
          <p:cNvSpPr>
            <a:spLocks noGrp="1"/>
          </p:cNvSpPr>
          <p:nvPr>
            <p:ph type="title"/>
          </p:nvPr>
        </p:nvSpPr>
        <p:spPr/>
        <p:txBody>
          <a:bodyPr/>
          <a:lstStyle/>
          <a:p>
            <a:r>
              <a:rPr lang="en-US" b="1" dirty="0">
                <a:latin typeface="+mn-lt"/>
              </a:rPr>
              <a:t>Objective: </a:t>
            </a:r>
          </a:p>
        </p:txBody>
      </p:sp>
      <p:graphicFrame>
        <p:nvGraphicFramePr>
          <p:cNvPr id="5" name="Content Placeholder 2">
            <a:extLst>
              <a:ext uri="{FF2B5EF4-FFF2-40B4-BE49-F238E27FC236}">
                <a16:creationId xmlns:a16="http://schemas.microsoft.com/office/drawing/2014/main" id="{C0EAB375-8171-90CF-C560-18BD0DEC12CC}"/>
              </a:ext>
            </a:extLst>
          </p:cNvPr>
          <p:cNvGraphicFramePr>
            <a:graphicFrameLocks noGrp="1"/>
          </p:cNvGraphicFramePr>
          <p:nvPr>
            <p:ph idx="1"/>
            <p:extLst>
              <p:ext uri="{D42A27DB-BD31-4B8C-83A1-F6EECF244321}">
                <p14:modId xmlns:p14="http://schemas.microsoft.com/office/powerpoint/2010/main" val="3223222507"/>
              </p:ext>
            </p:extLst>
          </p:nvPr>
        </p:nvGraphicFramePr>
        <p:xfrm>
          <a:off x="109870" y="1935124"/>
          <a:ext cx="11972260" cy="37666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4741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898D-C5B1-46F1-6D1D-CFB549AADD5F}"/>
              </a:ext>
            </a:extLst>
          </p:cNvPr>
          <p:cNvSpPr>
            <a:spLocks noGrp="1"/>
          </p:cNvSpPr>
          <p:nvPr>
            <p:ph type="title"/>
          </p:nvPr>
        </p:nvSpPr>
        <p:spPr>
          <a:xfrm>
            <a:off x="6096000" y="802198"/>
            <a:ext cx="4952999" cy="1413326"/>
          </a:xfrm>
        </p:spPr>
        <p:txBody>
          <a:bodyPr anchor="b">
            <a:normAutofit/>
          </a:bodyPr>
          <a:lstStyle/>
          <a:p>
            <a:r>
              <a:rPr lang="en-US" sz="4000" b="1" dirty="0">
                <a:solidFill>
                  <a:schemeClr val="tx2"/>
                </a:solidFill>
                <a:latin typeface="+mn-lt"/>
              </a:rPr>
              <a:t>Problem Description:</a:t>
            </a:r>
          </a:p>
        </p:txBody>
      </p:sp>
      <p:pic>
        <p:nvPicPr>
          <p:cNvPr id="5" name="Picture 4" descr="Many question marks on black background">
            <a:extLst>
              <a:ext uri="{FF2B5EF4-FFF2-40B4-BE49-F238E27FC236}">
                <a16:creationId xmlns:a16="http://schemas.microsoft.com/office/drawing/2014/main" id="{846C2A5C-A23A-B020-854D-390A83AA7E09}"/>
              </a:ext>
            </a:extLst>
          </p:cNvPr>
          <p:cNvPicPr>
            <a:picLocks noChangeAspect="1"/>
          </p:cNvPicPr>
          <p:nvPr/>
        </p:nvPicPr>
        <p:blipFill rotWithShape="1">
          <a:blip r:embed="rId2"/>
          <a:srcRect l="51877" r="2" b="2"/>
          <a:stretch/>
        </p:blipFill>
        <p:spPr>
          <a:xfrm>
            <a:off x="781419" y="608141"/>
            <a:ext cx="4455842" cy="5648280"/>
          </a:xfrm>
          <a:prstGeom prst="rect">
            <a:avLst/>
          </a:prstGeom>
          <a:ln>
            <a:noFill/>
          </a:ln>
          <a:effectLst>
            <a:softEdge rad="112500"/>
          </a:effectLst>
        </p:spPr>
      </p:pic>
      <p:grpSp>
        <p:nvGrpSpPr>
          <p:cNvPr id="22" name="Group 21">
            <a:extLst>
              <a:ext uri="{FF2B5EF4-FFF2-40B4-BE49-F238E27FC236}">
                <a16:creationId xmlns:a16="http://schemas.microsoft.com/office/drawing/2014/main" id="{9B991AFC-21D0-28BD-C527-F66B1B56F8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64608" y="74723"/>
            <a:ext cx="1821184" cy="2084383"/>
            <a:chOff x="10264608" y="74723"/>
            <a:chExt cx="1821184" cy="2084383"/>
          </a:xfrm>
        </p:grpSpPr>
        <p:sp>
          <p:nvSpPr>
            <p:cNvPr id="23" name="Freeform: Shape 22">
              <a:extLst>
                <a:ext uri="{FF2B5EF4-FFF2-40B4-BE49-F238E27FC236}">
                  <a16:creationId xmlns:a16="http://schemas.microsoft.com/office/drawing/2014/main" id="{D4420C61-30B9-D26F-6720-C32154CA3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1465047" flipV="1">
              <a:off x="11636678" y="400406"/>
              <a:ext cx="413532" cy="368654"/>
            </a:xfrm>
            <a:custGeom>
              <a:avLst/>
              <a:gdLst>
                <a:gd name="connsiteX0" fmla="*/ 2531073 w 4828010"/>
                <a:gd name="connsiteY0" fmla="*/ 0 h 4873559"/>
                <a:gd name="connsiteX1" fmla="*/ 3937963 w 4828010"/>
                <a:gd name="connsiteY1" fmla="*/ 437433 h 4873559"/>
                <a:gd name="connsiteX2" fmla="*/ 4806231 w 4828010"/>
                <a:gd name="connsiteY2" fmla="*/ 1773180 h 4873559"/>
                <a:gd name="connsiteX3" fmla="*/ 4448644 w 4828010"/>
                <a:gd name="connsiteY3" fmla="*/ 3933235 h 4873559"/>
                <a:gd name="connsiteX4" fmla="*/ 3192542 w 4828010"/>
                <a:gd name="connsiteY4" fmla="*/ 4716168 h 4873559"/>
                <a:gd name="connsiteX5" fmla="*/ 937448 w 4828010"/>
                <a:gd name="connsiteY5" fmla="*/ 4547691 h 4873559"/>
                <a:gd name="connsiteX6" fmla="*/ 12348 w 4828010"/>
                <a:gd name="connsiteY6" fmla="*/ 3026750 h 4873559"/>
                <a:gd name="connsiteX7" fmla="*/ 553508 w 4828010"/>
                <a:gd name="connsiteY7" fmla="*/ 740383 h 4873559"/>
                <a:gd name="connsiteX8" fmla="*/ 2531073 w 4828010"/>
                <a:gd name="connsiteY8" fmla="*/ 0 h 4873559"/>
                <a:gd name="connsiteX0" fmla="*/ 2531073 w 4828010"/>
                <a:gd name="connsiteY0" fmla="*/ 0 h 4853896"/>
                <a:gd name="connsiteX1" fmla="*/ 3937963 w 4828010"/>
                <a:gd name="connsiteY1" fmla="*/ 437433 h 4853896"/>
                <a:gd name="connsiteX2" fmla="*/ 4806231 w 4828010"/>
                <a:gd name="connsiteY2" fmla="*/ 1773180 h 4853896"/>
                <a:gd name="connsiteX3" fmla="*/ 4448644 w 4828010"/>
                <a:gd name="connsiteY3" fmla="*/ 3933235 h 4853896"/>
                <a:gd name="connsiteX4" fmla="*/ 3192542 w 4828010"/>
                <a:gd name="connsiteY4" fmla="*/ 4716168 h 4853896"/>
                <a:gd name="connsiteX5" fmla="*/ 1075671 w 4828010"/>
                <a:gd name="connsiteY5" fmla="*/ 4473263 h 4853896"/>
                <a:gd name="connsiteX6" fmla="*/ 12348 w 4828010"/>
                <a:gd name="connsiteY6" fmla="*/ 3026750 h 4853896"/>
                <a:gd name="connsiteX7" fmla="*/ 553508 w 4828010"/>
                <a:gd name="connsiteY7" fmla="*/ 740383 h 4853896"/>
                <a:gd name="connsiteX8" fmla="*/ 2531073 w 4828010"/>
                <a:gd name="connsiteY8" fmla="*/ 0 h 4853896"/>
                <a:gd name="connsiteX0" fmla="*/ 2531073 w 4828010"/>
                <a:gd name="connsiteY0" fmla="*/ 0 h 4852652"/>
                <a:gd name="connsiteX1" fmla="*/ 3937963 w 4828010"/>
                <a:gd name="connsiteY1" fmla="*/ 437433 h 4852652"/>
                <a:gd name="connsiteX2" fmla="*/ 4806231 w 4828010"/>
                <a:gd name="connsiteY2" fmla="*/ 1773180 h 4852652"/>
                <a:gd name="connsiteX3" fmla="*/ 4448644 w 4828010"/>
                <a:gd name="connsiteY3" fmla="*/ 3933235 h 4852652"/>
                <a:gd name="connsiteX4" fmla="*/ 3192542 w 4828010"/>
                <a:gd name="connsiteY4" fmla="*/ 4716168 h 4852652"/>
                <a:gd name="connsiteX5" fmla="*/ 1160732 w 4828010"/>
                <a:gd name="connsiteY5" fmla="*/ 4467947 h 4852652"/>
                <a:gd name="connsiteX6" fmla="*/ 12348 w 4828010"/>
                <a:gd name="connsiteY6" fmla="*/ 3026750 h 4852652"/>
                <a:gd name="connsiteX7" fmla="*/ 553508 w 4828010"/>
                <a:gd name="connsiteY7" fmla="*/ 740383 h 4852652"/>
                <a:gd name="connsiteX8" fmla="*/ 2531073 w 4828010"/>
                <a:gd name="connsiteY8" fmla="*/ 0 h 4852652"/>
                <a:gd name="connsiteX0" fmla="*/ 2531073 w 4828010"/>
                <a:gd name="connsiteY0" fmla="*/ 0 h 4852652"/>
                <a:gd name="connsiteX1" fmla="*/ 3937963 w 4828010"/>
                <a:gd name="connsiteY1" fmla="*/ 437433 h 4852652"/>
                <a:gd name="connsiteX2" fmla="*/ 4806231 w 4828010"/>
                <a:gd name="connsiteY2" fmla="*/ 1773180 h 4852652"/>
                <a:gd name="connsiteX3" fmla="*/ 4448644 w 4828010"/>
                <a:gd name="connsiteY3" fmla="*/ 3933235 h 4852652"/>
                <a:gd name="connsiteX4" fmla="*/ 3192542 w 4828010"/>
                <a:gd name="connsiteY4" fmla="*/ 4716168 h 4852652"/>
                <a:gd name="connsiteX5" fmla="*/ 1160732 w 4828010"/>
                <a:gd name="connsiteY5" fmla="*/ 4467947 h 4852652"/>
                <a:gd name="connsiteX6" fmla="*/ 12348 w 4828010"/>
                <a:gd name="connsiteY6" fmla="*/ 3026750 h 4852652"/>
                <a:gd name="connsiteX7" fmla="*/ 553508 w 4828010"/>
                <a:gd name="connsiteY7" fmla="*/ 740383 h 4852652"/>
                <a:gd name="connsiteX8" fmla="*/ 2531073 w 4828010"/>
                <a:gd name="connsiteY8" fmla="*/ 0 h 4852652"/>
                <a:gd name="connsiteX0" fmla="*/ 2460239 w 4757176"/>
                <a:gd name="connsiteY0" fmla="*/ 0 h 4850182"/>
                <a:gd name="connsiteX1" fmla="*/ 3867129 w 4757176"/>
                <a:gd name="connsiteY1" fmla="*/ 437433 h 4850182"/>
                <a:gd name="connsiteX2" fmla="*/ 4735397 w 4757176"/>
                <a:gd name="connsiteY2" fmla="*/ 1773180 h 4850182"/>
                <a:gd name="connsiteX3" fmla="*/ 4377810 w 4757176"/>
                <a:gd name="connsiteY3" fmla="*/ 3933235 h 4850182"/>
                <a:gd name="connsiteX4" fmla="*/ 3121708 w 4757176"/>
                <a:gd name="connsiteY4" fmla="*/ 4716168 h 4850182"/>
                <a:gd name="connsiteX5" fmla="*/ 1089898 w 4757176"/>
                <a:gd name="connsiteY5" fmla="*/ 4467947 h 4850182"/>
                <a:gd name="connsiteX6" fmla="*/ 15942 w 4757176"/>
                <a:gd name="connsiteY6" fmla="*/ 3101178 h 4850182"/>
                <a:gd name="connsiteX7" fmla="*/ 482674 w 4757176"/>
                <a:gd name="connsiteY7" fmla="*/ 740383 h 4850182"/>
                <a:gd name="connsiteX8" fmla="*/ 2460239 w 4757176"/>
                <a:gd name="connsiteY8" fmla="*/ 0 h 4850182"/>
                <a:gd name="connsiteX0" fmla="*/ 2460239 w 4757176"/>
                <a:gd name="connsiteY0" fmla="*/ 0 h 4850182"/>
                <a:gd name="connsiteX1" fmla="*/ 3867129 w 4757176"/>
                <a:gd name="connsiteY1" fmla="*/ 437433 h 4850182"/>
                <a:gd name="connsiteX2" fmla="*/ 4735397 w 4757176"/>
                <a:gd name="connsiteY2" fmla="*/ 1773180 h 4850182"/>
                <a:gd name="connsiteX3" fmla="*/ 4377810 w 4757176"/>
                <a:gd name="connsiteY3" fmla="*/ 3933235 h 4850182"/>
                <a:gd name="connsiteX4" fmla="*/ 3121708 w 4757176"/>
                <a:gd name="connsiteY4" fmla="*/ 4716168 h 4850182"/>
                <a:gd name="connsiteX5" fmla="*/ 1089898 w 4757176"/>
                <a:gd name="connsiteY5" fmla="*/ 4467947 h 4850182"/>
                <a:gd name="connsiteX6" fmla="*/ 15942 w 4757176"/>
                <a:gd name="connsiteY6" fmla="*/ 3101178 h 4850182"/>
                <a:gd name="connsiteX7" fmla="*/ 482674 w 4757176"/>
                <a:gd name="connsiteY7" fmla="*/ 740383 h 4850182"/>
                <a:gd name="connsiteX8" fmla="*/ 2460239 w 4757176"/>
                <a:gd name="connsiteY8" fmla="*/ 0 h 4850182"/>
                <a:gd name="connsiteX0" fmla="*/ 2484014 w 4780951"/>
                <a:gd name="connsiteY0" fmla="*/ 0 h 4850182"/>
                <a:gd name="connsiteX1" fmla="*/ 3890904 w 4780951"/>
                <a:gd name="connsiteY1" fmla="*/ 437433 h 4850182"/>
                <a:gd name="connsiteX2" fmla="*/ 4759172 w 4780951"/>
                <a:gd name="connsiteY2" fmla="*/ 1773180 h 4850182"/>
                <a:gd name="connsiteX3" fmla="*/ 4401585 w 4780951"/>
                <a:gd name="connsiteY3" fmla="*/ 3933235 h 4850182"/>
                <a:gd name="connsiteX4" fmla="*/ 3145483 w 4780951"/>
                <a:gd name="connsiteY4" fmla="*/ 4716168 h 4850182"/>
                <a:gd name="connsiteX5" fmla="*/ 1113673 w 4780951"/>
                <a:gd name="connsiteY5" fmla="*/ 4467947 h 4850182"/>
                <a:gd name="connsiteX6" fmla="*/ 39717 w 4780951"/>
                <a:gd name="connsiteY6" fmla="*/ 3101178 h 4850182"/>
                <a:gd name="connsiteX7" fmla="*/ 506449 w 4780951"/>
                <a:gd name="connsiteY7" fmla="*/ 740383 h 4850182"/>
                <a:gd name="connsiteX8" fmla="*/ 2484014 w 4780951"/>
                <a:gd name="connsiteY8" fmla="*/ 0 h 4850182"/>
                <a:gd name="connsiteX0" fmla="*/ 2484014 w 4780127"/>
                <a:gd name="connsiteY0" fmla="*/ 0 h 4850182"/>
                <a:gd name="connsiteX1" fmla="*/ 3890904 w 4780127"/>
                <a:gd name="connsiteY1" fmla="*/ 437433 h 4850182"/>
                <a:gd name="connsiteX2" fmla="*/ 4759172 w 4780127"/>
                <a:gd name="connsiteY2" fmla="*/ 1773180 h 4850182"/>
                <a:gd name="connsiteX3" fmla="*/ 4390953 w 4780127"/>
                <a:gd name="connsiteY3" fmla="*/ 3805644 h 4850182"/>
                <a:gd name="connsiteX4" fmla="*/ 3145483 w 4780127"/>
                <a:gd name="connsiteY4" fmla="*/ 4716168 h 4850182"/>
                <a:gd name="connsiteX5" fmla="*/ 1113673 w 4780127"/>
                <a:gd name="connsiteY5" fmla="*/ 4467947 h 4850182"/>
                <a:gd name="connsiteX6" fmla="*/ 39717 w 4780127"/>
                <a:gd name="connsiteY6" fmla="*/ 3101178 h 4850182"/>
                <a:gd name="connsiteX7" fmla="*/ 506449 w 4780127"/>
                <a:gd name="connsiteY7" fmla="*/ 740383 h 4850182"/>
                <a:gd name="connsiteX8" fmla="*/ 2484014 w 4780127"/>
                <a:gd name="connsiteY8" fmla="*/ 0 h 4850182"/>
                <a:gd name="connsiteX0" fmla="*/ 2484014 w 4778010"/>
                <a:gd name="connsiteY0" fmla="*/ 0 h 4846926"/>
                <a:gd name="connsiteX1" fmla="*/ 3890904 w 4778010"/>
                <a:gd name="connsiteY1" fmla="*/ 437433 h 4846926"/>
                <a:gd name="connsiteX2" fmla="*/ 4759172 w 4778010"/>
                <a:gd name="connsiteY2" fmla="*/ 1773180 h 4846926"/>
                <a:gd name="connsiteX3" fmla="*/ 4390953 w 4778010"/>
                <a:gd name="connsiteY3" fmla="*/ 3805644 h 4846926"/>
                <a:gd name="connsiteX4" fmla="*/ 3343914 w 4778010"/>
                <a:gd name="connsiteY4" fmla="*/ 4712128 h 4846926"/>
                <a:gd name="connsiteX5" fmla="*/ 1113673 w 4778010"/>
                <a:gd name="connsiteY5" fmla="*/ 4467947 h 4846926"/>
                <a:gd name="connsiteX6" fmla="*/ 39717 w 4778010"/>
                <a:gd name="connsiteY6" fmla="*/ 3101178 h 4846926"/>
                <a:gd name="connsiteX7" fmla="*/ 506449 w 4778010"/>
                <a:gd name="connsiteY7" fmla="*/ 740383 h 4846926"/>
                <a:gd name="connsiteX8" fmla="*/ 2484014 w 4778010"/>
                <a:gd name="connsiteY8" fmla="*/ 0 h 4846926"/>
                <a:gd name="connsiteX0" fmla="*/ 2484014 w 4782503"/>
                <a:gd name="connsiteY0" fmla="*/ 0 h 4846926"/>
                <a:gd name="connsiteX1" fmla="*/ 3890904 w 4782503"/>
                <a:gd name="connsiteY1" fmla="*/ 437433 h 4846926"/>
                <a:gd name="connsiteX2" fmla="*/ 4759172 w 4782503"/>
                <a:gd name="connsiteY2" fmla="*/ 1773180 h 4846926"/>
                <a:gd name="connsiteX3" fmla="*/ 4450482 w 4782503"/>
                <a:gd name="connsiteY3" fmla="*/ 3688481 h 4846926"/>
                <a:gd name="connsiteX4" fmla="*/ 3343914 w 4782503"/>
                <a:gd name="connsiteY4" fmla="*/ 4712128 h 4846926"/>
                <a:gd name="connsiteX5" fmla="*/ 1113673 w 4782503"/>
                <a:gd name="connsiteY5" fmla="*/ 4467947 h 4846926"/>
                <a:gd name="connsiteX6" fmla="*/ 39717 w 4782503"/>
                <a:gd name="connsiteY6" fmla="*/ 3101178 h 4846926"/>
                <a:gd name="connsiteX7" fmla="*/ 506449 w 4782503"/>
                <a:gd name="connsiteY7" fmla="*/ 740383 h 4846926"/>
                <a:gd name="connsiteX8" fmla="*/ 2484014 w 4782503"/>
                <a:gd name="connsiteY8" fmla="*/ 0 h 4846926"/>
                <a:gd name="connsiteX0" fmla="*/ 2484014 w 4784889"/>
                <a:gd name="connsiteY0" fmla="*/ 0 h 4846926"/>
                <a:gd name="connsiteX1" fmla="*/ 3890904 w 4784889"/>
                <a:gd name="connsiteY1" fmla="*/ 437433 h 4846926"/>
                <a:gd name="connsiteX2" fmla="*/ 4759172 w 4784889"/>
                <a:gd name="connsiteY2" fmla="*/ 1773180 h 4846926"/>
                <a:gd name="connsiteX3" fmla="*/ 4474294 w 4784889"/>
                <a:gd name="connsiteY3" fmla="*/ 3676361 h 4846926"/>
                <a:gd name="connsiteX4" fmla="*/ 3343914 w 4784889"/>
                <a:gd name="connsiteY4" fmla="*/ 4712128 h 4846926"/>
                <a:gd name="connsiteX5" fmla="*/ 1113673 w 4784889"/>
                <a:gd name="connsiteY5" fmla="*/ 4467947 h 4846926"/>
                <a:gd name="connsiteX6" fmla="*/ 39717 w 4784889"/>
                <a:gd name="connsiteY6" fmla="*/ 3101178 h 4846926"/>
                <a:gd name="connsiteX7" fmla="*/ 506449 w 4784889"/>
                <a:gd name="connsiteY7" fmla="*/ 740383 h 4846926"/>
                <a:gd name="connsiteX8" fmla="*/ 2484014 w 4784889"/>
                <a:gd name="connsiteY8" fmla="*/ 0 h 4846926"/>
                <a:gd name="connsiteX0" fmla="*/ 2484014 w 4784889"/>
                <a:gd name="connsiteY0" fmla="*/ 0 h 4860980"/>
                <a:gd name="connsiteX1" fmla="*/ 3890904 w 4784889"/>
                <a:gd name="connsiteY1" fmla="*/ 437433 h 4860980"/>
                <a:gd name="connsiteX2" fmla="*/ 4759172 w 4784889"/>
                <a:gd name="connsiteY2" fmla="*/ 1773180 h 4860980"/>
                <a:gd name="connsiteX3" fmla="*/ 4474294 w 4784889"/>
                <a:gd name="connsiteY3" fmla="*/ 3676361 h 4860980"/>
                <a:gd name="connsiteX4" fmla="*/ 3343914 w 4784889"/>
                <a:gd name="connsiteY4" fmla="*/ 4712128 h 4860980"/>
                <a:gd name="connsiteX5" fmla="*/ 1097799 w 4784889"/>
                <a:gd name="connsiteY5" fmla="*/ 4524510 h 4860980"/>
                <a:gd name="connsiteX6" fmla="*/ 39717 w 4784889"/>
                <a:gd name="connsiteY6" fmla="*/ 3101178 h 4860980"/>
                <a:gd name="connsiteX7" fmla="*/ 506449 w 4784889"/>
                <a:gd name="connsiteY7" fmla="*/ 740383 h 4860980"/>
                <a:gd name="connsiteX8" fmla="*/ 2484014 w 4784889"/>
                <a:gd name="connsiteY8" fmla="*/ 0 h 4860980"/>
                <a:gd name="connsiteX0" fmla="*/ 2484014 w 4783308"/>
                <a:gd name="connsiteY0" fmla="*/ 0 h 4860981"/>
                <a:gd name="connsiteX1" fmla="*/ 3890904 w 4783308"/>
                <a:gd name="connsiteY1" fmla="*/ 437433 h 4860981"/>
                <a:gd name="connsiteX2" fmla="*/ 4759172 w 4783308"/>
                <a:gd name="connsiteY2" fmla="*/ 1773180 h 4860981"/>
                <a:gd name="connsiteX3" fmla="*/ 4474294 w 4783308"/>
                <a:gd name="connsiteY3" fmla="*/ 3676361 h 4860981"/>
                <a:gd name="connsiteX4" fmla="*/ 3443129 w 4783308"/>
                <a:gd name="connsiteY4" fmla="*/ 4712129 h 4860981"/>
                <a:gd name="connsiteX5" fmla="*/ 1097799 w 4783308"/>
                <a:gd name="connsiteY5" fmla="*/ 4524510 h 4860981"/>
                <a:gd name="connsiteX6" fmla="*/ 39717 w 4783308"/>
                <a:gd name="connsiteY6" fmla="*/ 3101178 h 4860981"/>
                <a:gd name="connsiteX7" fmla="*/ 506449 w 4783308"/>
                <a:gd name="connsiteY7" fmla="*/ 740383 h 4860981"/>
                <a:gd name="connsiteX8" fmla="*/ 2484014 w 4783308"/>
                <a:gd name="connsiteY8" fmla="*/ 0 h 4860981"/>
                <a:gd name="connsiteX0" fmla="*/ 2484014 w 4783308"/>
                <a:gd name="connsiteY0" fmla="*/ 0 h 4821502"/>
                <a:gd name="connsiteX1" fmla="*/ 3890904 w 4783308"/>
                <a:gd name="connsiteY1" fmla="*/ 437433 h 4821502"/>
                <a:gd name="connsiteX2" fmla="*/ 4759172 w 4783308"/>
                <a:gd name="connsiteY2" fmla="*/ 1773180 h 4821502"/>
                <a:gd name="connsiteX3" fmla="*/ 4474294 w 4783308"/>
                <a:gd name="connsiteY3" fmla="*/ 3676361 h 4821502"/>
                <a:gd name="connsiteX4" fmla="*/ 3443129 w 4783308"/>
                <a:gd name="connsiteY4" fmla="*/ 4712129 h 4821502"/>
                <a:gd name="connsiteX5" fmla="*/ 1097799 w 4783308"/>
                <a:gd name="connsiteY5" fmla="*/ 4524510 h 4821502"/>
                <a:gd name="connsiteX6" fmla="*/ 39717 w 4783308"/>
                <a:gd name="connsiteY6" fmla="*/ 3101178 h 4821502"/>
                <a:gd name="connsiteX7" fmla="*/ 506449 w 4783308"/>
                <a:gd name="connsiteY7" fmla="*/ 740383 h 4821502"/>
                <a:gd name="connsiteX8" fmla="*/ 2484014 w 4783308"/>
                <a:gd name="connsiteY8" fmla="*/ 0 h 4821502"/>
                <a:gd name="connsiteX0" fmla="*/ 2484014 w 4783308"/>
                <a:gd name="connsiteY0" fmla="*/ 0 h 4821502"/>
                <a:gd name="connsiteX1" fmla="*/ 3890904 w 4783308"/>
                <a:gd name="connsiteY1" fmla="*/ 437433 h 4821502"/>
                <a:gd name="connsiteX2" fmla="*/ 4759172 w 4783308"/>
                <a:gd name="connsiteY2" fmla="*/ 1773180 h 4821502"/>
                <a:gd name="connsiteX3" fmla="*/ 4474294 w 4783308"/>
                <a:gd name="connsiteY3" fmla="*/ 3676361 h 4821502"/>
                <a:gd name="connsiteX4" fmla="*/ 3443129 w 4783308"/>
                <a:gd name="connsiteY4" fmla="*/ 4712129 h 4821502"/>
                <a:gd name="connsiteX5" fmla="*/ 1097799 w 4783308"/>
                <a:gd name="connsiteY5" fmla="*/ 4524510 h 4821502"/>
                <a:gd name="connsiteX6" fmla="*/ 39717 w 4783308"/>
                <a:gd name="connsiteY6" fmla="*/ 3101178 h 4821502"/>
                <a:gd name="connsiteX7" fmla="*/ 506449 w 4783308"/>
                <a:gd name="connsiteY7" fmla="*/ 740383 h 4821502"/>
                <a:gd name="connsiteX8" fmla="*/ 2484014 w 4783308"/>
                <a:gd name="connsiteY8" fmla="*/ 0 h 4821502"/>
                <a:gd name="connsiteX0" fmla="*/ 2532073 w 4784141"/>
                <a:gd name="connsiteY0" fmla="*/ 0 h 4773425"/>
                <a:gd name="connsiteX1" fmla="*/ 3891737 w 4784141"/>
                <a:gd name="connsiteY1" fmla="*/ 389356 h 4773425"/>
                <a:gd name="connsiteX2" fmla="*/ 4760005 w 4784141"/>
                <a:gd name="connsiteY2" fmla="*/ 1725103 h 4773425"/>
                <a:gd name="connsiteX3" fmla="*/ 4475127 w 4784141"/>
                <a:gd name="connsiteY3" fmla="*/ 3628284 h 4773425"/>
                <a:gd name="connsiteX4" fmla="*/ 3443962 w 4784141"/>
                <a:gd name="connsiteY4" fmla="*/ 4664052 h 4773425"/>
                <a:gd name="connsiteX5" fmla="*/ 1098632 w 4784141"/>
                <a:gd name="connsiteY5" fmla="*/ 4476433 h 4773425"/>
                <a:gd name="connsiteX6" fmla="*/ 40550 w 4784141"/>
                <a:gd name="connsiteY6" fmla="*/ 3053101 h 4773425"/>
                <a:gd name="connsiteX7" fmla="*/ 507282 w 4784141"/>
                <a:gd name="connsiteY7" fmla="*/ 692306 h 4773425"/>
                <a:gd name="connsiteX8" fmla="*/ 2532073 w 4784141"/>
                <a:gd name="connsiteY8" fmla="*/ 0 h 4773425"/>
                <a:gd name="connsiteX0" fmla="*/ 2532073 w 4784141"/>
                <a:gd name="connsiteY0" fmla="*/ 491 h 4773916"/>
                <a:gd name="connsiteX1" fmla="*/ 3891737 w 4784141"/>
                <a:gd name="connsiteY1" fmla="*/ 389847 h 4773916"/>
                <a:gd name="connsiteX2" fmla="*/ 4760005 w 4784141"/>
                <a:gd name="connsiteY2" fmla="*/ 1725594 h 4773916"/>
                <a:gd name="connsiteX3" fmla="*/ 4475127 w 4784141"/>
                <a:gd name="connsiteY3" fmla="*/ 3628775 h 4773916"/>
                <a:gd name="connsiteX4" fmla="*/ 3443962 w 4784141"/>
                <a:gd name="connsiteY4" fmla="*/ 4664543 h 4773916"/>
                <a:gd name="connsiteX5" fmla="*/ 1098632 w 4784141"/>
                <a:gd name="connsiteY5" fmla="*/ 4476924 h 4773916"/>
                <a:gd name="connsiteX6" fmla="*/ 40550 w 4784141"/>
                <a:gd name="connsiteY6" fmla="*/ 3053592 h 4773916"/>
                <a:gd name="connsiteX7" fmla="*/ 507282 w 4784141"/>
                <a:gd name="connsiteY7" fmla="*/ 692797 h 4773916"/>
                <a:gd name="connsiteX8" fmla="*/ 2532073 w 4784141"/>
                <a:gd name="connsiteY8" fmla="*/ 491 h 4773916"/>
                <a:gd name="connsiteX0" fmla="*/ 2532073 w 4784141"/>
                <a:gd name="connsiteY0" fmla="*/ 491 h 4773916"/>
                <a:gd name="connsiteX1" fmla="*/ 3891737 w 4784141"/>
                <a:gd name="connsiteY1" fmla="*/ 389847 h 4773916"/>
                <a:gd name="connsiteX2" fmla="*/ 4760005 w 4784141"/>
                <a:gd name="connsiteY2" fmla="*/ 1725594 h 4773916"/>
                <a:gd name="connsiteX3" fmla="*/ 4475127 w 4784141"/>
                <a:gd name="connsiteY3" fmla="*/ 3628775 h 4773916"/>
                <a:gd name="connsiteX4" fmla="*/ 3443962 w 4784141"/>
                <a:gd name="connsiteY4" fmla="*/ 4664543 h 4773916"/>
                <a:gd name="connsiteX5" fmla="*/ 1098632 w 4784141"/>
                <a:gd name="connsiteY5" fmla="*/ 4476924 h 4773916"/>
                <a:gd name="connsiteX6" fmla="*/ 40550 w 4784141"/>
                <a:gd name="connsiteY6" fmla="*/ 3053592 h 4773916"/>
                <a:gd name="connsiteX7" fmla="*/ 507282 w 4784141"/>
                <a:gd name="connsiteY7" fmla="*/ 692797 h 4773916"/>
                <a:gd name="connsiteX8" fmla="*/ 2532073 w 4784141"/>
                <a:gd name="connsiteY8" fmla="*/ 491 h 4773916"/>
                <a:gd name="connsiteX0" fmla="*/ 2558783 w 4784614"/>
                <a:gd name="connsiteY0" fmla="*/ 525 h 4757924"/>
                <a:gd name="connsiteX1" fmla="*/ 3892210 w 4784614"/>
                <a:gd name="connsiteY1" fmla="*/ 373855 h 4757924"/>
                <a:gd name="connsiteX2" fmla="*/ 4760478 w 4784614"/>
                <a:gd name="connsiteY2" fmla="*/ 1709602 h 4757924"/>
                <a:gd name="connsiteX3" fmla="*/ 4475600 w 4784614"/>
                <a:gd name="connsiteY3" fmla="*/ 3612783 h 4757924"/>
                <a:gd name="connsiteX4" fmla="*/ 3444435 w 4784614"/>
                <a:gd name="connsiteY4" fmla="*/ 4648551 h 4757924"/>
                <a:gd name="connsiteX5" fmla="*/ 1099105 w 4784614"/>
                <a:gd name="connsiteY5" fmla="*/ 4460932 h 4757924"/>
                <a:gd name="connsiteX6" fmla="*/ 41023 w 4784614"/>
                <a:gd name="connsiteY6" fmla="*/ 3037600 h 4757924"/>
                <a:gd name="connsiteX7" fmla="*/ 507755 w 4784614"/>
                <a:gd name="connsiteY7" fmla="*/ 676805 h 4757924"/>
                <a:gd name="connsiteX8" fmla="*/ 2558783 w 4784614"/>
                <a:gd name="connsiteY8" fmla="*/ 525 h 4757924"/>
                <a:gd name="connsiteX0" fmla="*/ 2558783 w 4784614"/>
                <a:gd name="connsiteY0" fmla="*/ 408 h 4757807"/>
                <a:gd name="connsiteX1" fmla="*/ 3907953 w 4784614"/>
                <a:gd name="connsiteY1" fmla="*/ 443183 h 4757807"/>
                <a:gd name="connsiteX2" fmla="*/ 4760478 w 4784614"/>
                <a:gd name="connsiteY2" fmla="*/ 1709485 h 4757807"/>
                <a:gd name="connsiteX3" fmla="*/ 4475600 w 4784614"/>
                <a:gd name="connsiteY3" fmla="*/ 3612666 h 4757807"/>
                <a:gd name="connsiteX4" fmla="*/ 3444435 w 4784614"/>
                <a:gd name="connsiteY4" fmla="*/ 4648434 h 4757807"/>
                <a:gd name="connsiteX5" fmla="*/ 1099105 w 4784614"/>
                <a:gd name="connsiteY5" fmla="*/ 4460815 h 4757807"/>
                <a:gd name="connsiteX6" fmla="*/ 41023 w 4784614"/>
                <a:gd name="connsiteY6" fmla="*/ 3037483 h 4757807"/>
                <a:gd name="connsiteX7" fmla="*/ 507755 w 4784614"/>
                <a:gd name="connsiteY7" fmla="*/ 676688 h 4757807"/>
                <a:gd name="connsiteX8" fmla="*/ 2558783 w 4784614"/>
                <a:gd name="connsiteY8" fmla="*/ 408 h 4757807"/>
                <a:gd name="connsiteX0" fmla="*/ 2675744 w 4786788"/>
                <a:gd name="connsiteY0" fmla="*/ 250 h 4954478"/>
                <a:gd name="connsiteX1" fmla="*/ 3910127 w 4786788"/>
                <a:gd name="connsiteY1" fmla="*/ 639854 h 4954478"/>
                <a:gd name="connsiteX2" fmla="*/ 4762652 w 4786788"/>
                <a:gd name="connsiteY2" fmla="*/ 1906156 h 4954478"/>
                <a:gd name="connsiteX3" fmla="*/ 4477774 w 4786788"/>
                <a:gd name="connsiteY3" fmla="*/ 3809337 h 4954478"/>
                <a:gd name="connsiteX4" fmla="*/ 3446609 w 4786788"/>
                <a:gd name="connsiteY4" fmla="*/ 4845105 h 4954478"/>
                <a:gd name="connsiteX5" fmla="*/ 1101279 w 4786788"/>
                <a:gd name="connsiteY5" fmla="*/ 4657486 h 4954478"/>
                <a:gd name="connsiteX6" fmla="*/ 43197 w 4786788"/>
                <a:gd name="connsiteY6" fmla="*/ 3234154 h 4954478"/>
                <a:gd name="connsiteX7" fmla="*/ 509929 w 4786788"/>
                <a:gd name="connsiteY7" fmla="*/ 873359 h 4954478"/>
                <a:gd name="connsiteX8" fmla="*/ 2675744 w 4786788"/>
                <a:gd name="connsiteY8" fmla="*/ 250 h 4954478"/>
                <a:gd name="connsiteX0" fmla="*/ 2675744 w 4786788"/>
                <a:gd name="connsiteY0" fmla="*/ 250 h 4954478"/>
                <a:gd name="connsiteX1" fmla="*/ 3910127 w 4786788"/>
                <a:gd name="connsiteY1" fmla="*/ 639854 h 4954478"/>
                <a:gd name="connsiteX2" fmla="*/ 4762652 w 4786788"/>
                <a:gd name="connsiteY2" fmla="*/ 1906156 h 4954478"/>
                <a:gd name="connsiteX3" fmla="*/ 4477774 w 4786788"/>
                <a:gd name="connsiteY3" fmla="*/ 3809337 h 4954478"/>
                <a:gd name="connsiteX4" fmla="*/ 3446609 w 4786788"/>
                <a:gd name="connsiteY4" fmla="*/ 4845105 h 4954478"/>
                <a:gd name="connsiteX5" fmla="*/ 1101279 w 4786788"/>
                <a:gd name="connsiteY5" fmla="*/ 4657486 h 4954478"/>
                <a:gd name="connsiteX6" fmla="*/ 43197 w 4786788"/>
                <a:gd name="connsiteY6" fmla="*/ 3234154 h 4954478"/>
                <a:gd name="connsiteX7" fmla="*/ 509929 w 4786788"/>
                <a:gd name="connsiteY7" fmla="*/ 873359 h 4954478"/>
                <a:gd name="connsiteX8" fmla="*/ 2675744 w 4786788"/>
                <a:gd name="connsiteY8" fmla="*/ 250 h 4954478"/>
                <a:gd name="connsiteX0" fmla="*/ 2675744 w 4786788"/>
                <a:gd name="connsiteY0" fmla="*/ 290 h 4954518"/>
                <a:gd name="connsiteX1" fmla="*/ 3910127 w 4786788"/>
                <a:gd name="connsiteY1" fmla="*/ 639894 h 4954518"/>
                <a:gd name="connsiteX2" fmla="*/ 4762652 w 4786788"/>
                <a:gd name="connsiteY2" fmla="*/ 1906196 h 4954518"/>
                <a:gd name="connsiteX3" fmla="*/ 4477774 w 4786788"/>
                <a:gd name="connsiteY3" fmla="*/ 3809377 h 4954518"/>
                <a:gd name="connsiteX4" fmla="*/ 3446609 w 4786788"/>
                <a:gd name="connsiteY4" fmla="*/ 4845145 h 4954518"/>
                <a:gd name="connsiteX5" fmla="*/ 1101279 w 4786788"/>
                <a:gd name="connsiteY5" fmla="*/ 4657526 h 4954518"/>
                <a:gd name="connsiteX6" fmla="*/ 43197 w 4786788"/>
                <a:gd name="connsiteY6" fmla="*/ 3234194 h 4954518"/>
                <a:gd name="connsiteX7" fmla="*/ 509929 w 4786788"/>
                <a:gd name="connsiteY7" fmla="*/ 873399 h 4954518"/>
                <a:gd name="connsiteX8" fmla="*/ 2675744 w 4786788"/>
                <a:gd name="connsiteY8" fmla="*/ 290 h 4954518"/>
                <a:gd name="connsiteX0" fmla="*/ 2675744 w 4786788"/>
                <a:gd name="connsiteY0" fmla="*/ 326 h 4954554"/>
                <a:gd name="connsiteX1" fmla="*/ 3990884 w 4786788"/>
                <a:gd name="connsiteY1" fmla="*/ 591130 h 4954554"/>
                <a:gd name="connsiteX2" fmla="*/ 4762652 w 4786788"/>
                <a:gd name="connsiteY2" fmla="*/ 1906232 h 4954554"/>
                <a:gd name="connsiteX3" fmla="*/ 4477774 w 4786788"/>
                <a:gd name="connsiteY3" fmla="*/ 3809413 h 4954554"/>
                <a:gd name="connsiteX4" fmla="*/ 3446609 w 4786788"/>
                <a:gd name="connsiteY4" fmla="*/ 4845181 h 4954554"/>
                <a:gd name="connsiteX5" fmla="*/ 1101279 w 4786788"/>
                <a:gd name="connsiteY5" fmla="*/ 4657562 h 4954554"/>
                <a:gd name="connsiteX6" fmla="*/ 43197 w 4786788"/>
                <a:gd name="connsiteY6" fmla="*/ 3234230 h 4954554"/>
                <a:gd name="connsiteX7" fmla="*/ 509929 w 4786788"/>
                <a:gd name="connsiteY7" fmla="*/ 873435 h 4954554"/>
                <a:gd name="connsiteX8" fmla="*/ 2675744 w 4786788"/>
                <a:gd name="connsiteY8" fmla="*/ 326 h 4954554"/>
                <a:gd name="connsiteX0" fmla="*/ 2662196 w 4773240"/>
                <a:gd name="connsiteY0" fmla="*/ 326 h 4954554"/>
                <a:gd name="connsiteX1" fmla="*/ 3977336 w 4773240"/>
                <a:gd name="connsiteY1" fmla="*/ 591130 h 4954554"/>
                <a:gd name="connsiteX2" fmla="*/ 4749104 w 4773240"/>
                <a:gd name="connsiteY2" fmla="*/ 1906232 h 4954554"/>
                <a:gd name="connsiteX3" fmla="*/ 4464226 w 4773240"/>
                <a:gd name="connsiteY3" fmla="*/ 3809413 h 4954554"/>
                <a:gd name="connsiteX4" fmla="*/ 3433061 w 4773240"/>
                <a:gd name="connsiteY4" fmla="*/ 4845181 h 4954554"/>
                <a:gd name="connsiteX5" fmla="*/ 1087731 w 4773240"/>
                <a:gd name="connsiteY5" fmla="*/ 4657562 h 4954554"/>
                <a:gd name="connsiteX6" fmla="*/ 29649 w 4773240"/>
                <a:gd name="connsiteY6" fmla="*/ 3234230 h 4954554"/>
                <a:gd name="connsiteX7" fmla="*/ 640977 w 4773240"/>
                <a:gd name="connsiteY7" fmla="*/ 730117 h 4954554"/>
                <a:gd name="connsiteX8" fmla="*/ 2662196 w 4773240"/>
                <a:gd name="connsiteY8" fmla="*/ 326 h 4954554"/>
                <a:gd name="connsiteX0" fmla="*/ 2664762 w 4775806"/>
                <a:gd name="connsiteY0" fmla="*/ 326 h 4954554"/>
                <a:gd name="connsiteX1" fmla="*/ 3979902 w 4775806"/>
                <a:gd name="connsiteY1" fmla="*/ 591130 h 4954554"/>
                <a:gd name="connsiteX2" fmla="*/ 4751670 w 4775806"/>
                <a:gd name="connsiteY2" fmla="*/ 1906232 h 4954554"/>
                <a:gd name="connsiteX3" fmla="*/ 4466792 w 4775806"/>
                <a:gd name="connsiteY3" fmla="*/ 3809413 h 4954554"/>
                <a:gd name="connsiteX4" fmla="*/ 3435627 w 4775806"/>
                <a:gd name="connsiteY4" fmla="*/ 4845181 h 4954554"/>
                <a:gd name="connsiteX5" fmla="*/ 1090297 w 4775806"/>
                <a:gd name="connsiteY5" fmla="*/ 4657562 h 4954554"/>
                <a:gd name="connsiteX6" fmla="*/ 32215 w 4775806"/>
                <a:gd name="connsiteY6" fmla="*/ 3234230 h 4954554"/>
                <a:gd name="connsiteX7" fmla="*/ 607899 w 4775806"/>
                <a:gd name="connsiteY7" fmla="*/ 806182 h 4954554"/>
                <a:gd name="connsiteX8" fmla="*/ 2664762 w 4775806"/>
                <a:gd name="connsiteY8" fmla="*/ 326 h 4954554"/>
                <a:gd name="connsiteX0" fmla="*/ 2673549 w 4784593"/>
                <a:gd name="connsiteY0" fmla="*/ 326 h 4954554"/>
                <a:gd name="connsiteX1" fmla="*/ 3988689 w 4784593"/>
                <a:gd name="connsiteY1" fmla="*/ 591130 h 4954554"/>
                <a:gd name="connsiteX2" fmla="*/ 4760457 w 4784593"/>
                <a:gd name="connsiteY2" fmla="*/ 1906232 h 4954554"/>
                <a:gd name="connsiteX3" fmla="*/ 4475579 w 4784593"/>
                <a:gd name="connsiteY3" fmla="*/ 3809413 h 4954554"/>
                <a:gd name="connsiteX4" fmla="*/ 3444414 w 4784593"/>
                <a:gd name="connsiteY4" fmla="*/ 4845181 h 4954554"/>
                <a:gd name="connsiteX5" fmla="*/ 1099084 w 4784593"/>
                <a:gd name="connsiteY5" fmla="*/ 4657562 h 4954554"/>
                <a:gd name="connsiteX6" fmla="*/ 41002 w 4784593"/>
                <a:gd name="connsiteY6" fmla="*/ 3234230 h 4954554"/>
                <a:gd name="connsiteX7" fmla="*/ 616686 w 4784593"/>
                <a:gd name="connsiteY7" fmla="*/ 806182 h 4954554"/>
                <a:gd name="connsiteX8" fmla="*/ 2673549 w 4784593"/>
                <a:gd name="connsiteY8" fmla="*/ 326 h 4954554"/>
                <a:gd name="connsiteX0" fmla="*/ 2649000 w 4760044"/>
                <a:gd name="connsiteY0" fmla="*/ 326 h 4964273"/>
                <a:gd name="connsiteX1" fmla="*/ 3964140 w 4760044"/>
                <a:gd name="connsiteY1" fmla="*/ 591130 h 4964273"/>
                <a:gd name="connsiteX2" fmla="*/ 4735908 w 4760044"/>
                <a:gd name="connsiteY2" fmla="*/ 1906232 h 4964273"/>
                <a:gd name="connsiteX3" fmla="*/ 4451030 w 4760044"/>
                <a:gd name="connsiteY3" fmla="*/ 3809413 h 4964273"/>
                <a:gd name="connsiteX4" fmla="*/ 3419865 w 4760044"/>
                <a:gd name="connsiteY4" fmla="*/ 4845181 h 4964273"/>
                <a:gd name="connsiteX5" fmla="*/ 1074535 w 4760044"/>
                <a:gd name="connsiteY5" fmla="*/ 4657562 h 4964273"/>
                <a:gd name="connsiteX6" fmla="*/ 33359 w 4760044"/>
                <a:gd name="connsiteY6" fmla="*/ 2995991 h 4964273"/>
                <a:gd name="connsiteX7" fmla="*/ 592137 w 4760044"/>
                <a:gd name="connsiteY7" fmla="*/ 806182 h 4964273"/>
                <a:gd name="connsiteX8" fmla="*/ 2649000 w 4760044"/>
                <a:gd name="connsiteY8" fmla="*/ 326 h 4964273"/>
                <a:gd name="connsiteX0" fmla="*/ 2649000 w 4760044"/>
                <a:gd name="connsiteY0" fmla="*/ 300 h 4964247"/>
                <a:gd name="connsiteX1" fmla="*/ 3813909 w 4760044"/>
                <a:gd name="connsiteY1" fmla="*/ 619239 h 4964247"/>
                <a:gd name="connsiteX2" fmla="*/ 4735908 w 4760044"/>
                <a:gd name="connsiteY2" fmla="*/ 1906206 h 4964247"/>
                <a:gd name="connsiteX3" fmla="*/ 4451030 w 4760044"/>
                <a:gd name="connsiteY3" fmla="*/ 3809387 h 4964247"/>
                <a:gd name="connsiteX4" fmla="*/ 3419865 w 4760044"/>
                <a:gd name="connsiteY4" fmla="*/ 4845155 h 4964247"/>
                <a:gd name="connsiteX5" fmla="*/ 1074535 w 4760044"/>
                <a:gd name="connsiteY5" fmla="*/ 4657536 h 4964247"/>
                <a:gd name="connsiteX6" fmla="*/ 33359 w 4760044"/>
                <a:gd name="connsiteY6" fmla="*/ 2995965 h 4964247"/>
                <a:gd name="connsiteX7" fmla="*/ 592137 w 4760044"/>
                <a:gd name="connsiteY7" fmla="*/ 806156 h 4964247"/>
                <a:gd name="connsiteX8" fmla="*/ 2649000 w 4760044"/>
                <a:gd name="connsiteY8" fmla="*/ 300 h 4964247"/>
                <a:gd name="connsiteX0" fmla="*/ 2649000 w 4849477"/>
                <a:gd name="connsiteY0" fmla="*/ -2 h 4963945"/>
                <a:gd name="connsiteX1" fmla="*/ 4735908 w 4849477"/>
                <a:gd name="connsiteY1" fmla="*/ 1905904 h 4963945"/>
                <a:gd name="connsiteX2" fmla="*/ 4451030 w 4849477"/>
                <a:gd name="connsiteY2" fmla="*/ 3809085 h 4963945"/>
                <a:gd name="connsiteX3" fmla="*/ 3419865 w 4849477"/>
                <a:gd name="connsiteY3" fmla="*/ 4844853 h 4963945"/>
                <a:gd name="connsiteX4" fmla="*/ 1074535 w 4849477"/>
                <a:gd name="connsiteY4" fmla="*/ 4657234 h 4963945"/>
                <a:gd name="connsiteX5" fmla="*/ 33359 w 4849477"/>
                <a:gd name="connsiteY5" fmla="*/ 2995663 h 4963945"/>
                <a:gd name="connsiteX6" fmla="*/ 592137 w 4849477"/>
                <a:gd name="connsiteY6" fmla="*/ 805854 h 4963945"/>
                <a:gd name="connsiteX7" fmla="*/ 2649000 w 4849477"/>
                <a:gd name="connsiteY7" fmla="*/ -2 h 4963945"/>
                <a:gd name="connsiteX0" fmla="*/ 2649000 w 4859466"/>
                <a:gd name="connsiteY0" fmla="*/ -2 h 5536260"/>
                <a:gd name="connsiteX1" fmla="*/ 4735908 w 4859466"/>
                <a:gd name="connsiteY1" fmla="*/ 1905904 h 5536260"/>
                <a:gd name="connsiteX2" fmla="*/ 4451030 w 4859466"/>
                <a:gd name="connsiteY2" fmla="*/ 3809085 h 5536260"/>
                <a:gd name="connsiteX3" fmla="*/ 3067466 w 4859466"/>
                <a:gd name="connsiteY3" fmla="*/ 5491001 h 5536260"/>
                <a:gd name="connsiteX4" fmla="*/ 1074535 w 4859466"/>
                <a:gd name="connsiteY4" fmla="*/ 4657234 h 5536260"/>
                <a:gd name="connsiteX5" fmla="*/ 33359 w 4859466"/>
                <a:gd name="connsiteY5" fmla="*/ 2995663 h 5536260"/>
                <a:gd name="connsiteX6" fmla="*/ 592137 w 4859466"/>
                <a:gd name="connsiteY6" fmla="*/ 805854 h 5536260"/>
                <a:gd name="connsiteX7" fmla="*/ 2649000 w 4859466"/>
                <a:gd name="connsiteY7" fmla="*/ -2 h 5536260"/>
                <a:gd name="connsiteX0" fmla="*/ 2780481 w 4861205"/>
                <a:gd name="connsiteY0" fmla="*/ -2 h 5864449"/>
                <a:gd name="connsiteX1" fmla="*/ 4737647 w 4861205"/>
                <a:gd name="connsiteY1" fmla="*/ 2234093 h 5864449"/>
                <a:gd name="connsiteX2" fmla="*/ 4452769 w 4861205"/>
                <a:gd name="connsiteY2" fmla="*/ 4137274 h 5864449"/>
                <a:gd name="connsiteX3" fmla="*/ 3069205 w 4861205"/>
                <a:gd name="connsiteY3" fmla="*/ 5819190 h 5864449"/>
                <a:gd name="connsiteX4" fmla="*/ 1076274 w 4861205"/>
                <a:gd name="connsiteY4" fmla="*/ 4985423 h 5864449"/>
                <a:gd name="connsiteX5" fmla="*/ 35098 w 4861205"/>
                <a:gd name="connsiteY5" fmla="*/ 3323852 h 5864449"/>
                <a:gd name="connsiteX6" fmla="*/ 593876 w 4861205"/>
                <a:gd name="connsiteY6" fmla="*/ 1134043 h 5864449"/>
                <a:gd name="connsiteX7" fmla="*/ 2780481 w 4861205"/>
                <a:gd name="connsiteY7" fmla="*/ -2 h 586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1205" h="5864449">
                  <a:moveTo>
                    <a:pt x="2780481" y="-2"/>
                  </a:moveTo>
                  <a:cubicBezTo>
                    <a:pt x="3471109" y="183340"/>
                    <a:pt x="4437309" y="1599245"/>
                    <a:pt x="4737647" y="2234093"/>
                  </a:cubicBezTo>
                  <a:cubicBezTo>
                    <a:pt x="5037985" y="2868941"/>
                    <a:pt x="4730843" y="3539758"/>
                    <a:pt x="4452769" y="4137274"/>
                  </a:cubicBezTo>
                  <a:cubicBezTo>
                    <a:pt x="4174695" y="4734790"/>
                    <a:pt x="3382031" y="5704221"/>
                    <a:pt x="3069205" y="5819190"/>
                  </a:cubicBezTo>
                  <a:cubicBezTo>
                    <a:pt x="2358359" y="6040255"/>
                    <a:pt x="1581959" y="5401313"/>
                    <a:pt x="1076274" y="4985423"/>
                  </a:cubicBezTo>
                  <a:cubicBezTo>
                    <a:pt x="570590" y="4569533"/>
                    <a:pt x="146935" y="3953087"/>
                    <a:pt x="35098" y="3323852"/>
                  </a:cubicBezTo>
                  <a:cubicBezTo>
                    <a:pt x="-92687" y="2646770"/>
                    <a:pt x="136312" y="1688019"/>
                    <a:pt x="593876" y="1134043"/>
                  </a:cubicBezTo>
                  <a:cubicBezTo>
                    <a:pt x="1051440" y="580067"/>
                    <a:pt x="2127808" y="30746"/>
                    <a:pt x="2780481" y="-2"/>
                  </a:cubicBez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38505720-2558-A390-8612-99A55D48F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7320892">
              <a:off x="11193220" y="1266534"/>
              <a:ext cx="1341234" cy="443910"/>
            </a:xfrm>
            <a:custGeom>
              <a:avLst/>
              <a:gdLst>
                <a:gd name="connsiteX0" fmla="*/ 0 w 1341234"/>
                <a:gd name="connsiteY0" fmla="*/ 254220 h 443910"/>
                <a:gd name="connsiteX1" fmla="*/ 406601 w 1341234"/>
                <a:gd name="connsiteY1" fmla="*/ 0 h 443910"/>
                <a:gd name="connsiteX2" fmla="*/ 457611 w 1341234"/>
                <a:gd name="connsiteY2" fmla="*/ 13676 h 443910"/>
                <a:gd name="connsiteX3" fmla="*/ 1341234 w 1341234"/>
                <a:gd name="connsiteY3" fmla="*/ 259580 h 443910"/>
                <a:gd name="connsiteX4" fmla="*/ 1301190 w 1341234"/>
                <a:gd name="connsiteY4" fmla="*/ 443736 h 443910"/>
                <a:gd name="connsiteX5" fmla="*/ 359344 w 1341234"/>
                <a:gd name="connsiteY5" fmla="*/ 311216 h 443910"/>
                <a:gd name="connsiteX6" fmla="*/ 47147 w 1341234"/>
                <a:gd name="connsiteY6" fmla="*/ 262014 h 44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1234" h="443910">
                  <a:moveTo>
                    <a:pt x="0" y="254220"/>
                  </a:moveTo>
                  <a:lnTo>
                    <a:pt x="406601" y="0"/>
                  </a:lnTo>
                  <a:lnTo>
                    <a:pt x="457611" y="13676"/>
                  </a:lnTo>
                  <a:cubicBezTo>
                    <a:pt x="858001" y="120586"/>
                    <a:pt x="1311317" y="239969"/>
                    <a:pt x="1341234" y="259580"/>
                  </a:cubicBezTo>
                  <a:cubicBezTo>
                    <a:pt x="1337155" y="299693"/>
                    <a:pt x="1315377" y="449736"/>
                    <a:pt x="1301190" y="443736"/>
                  </a:cubicBezTo>
                  <a:cubicBezTo>
                    <a:pt x="1267732" y="445553"/>
                    <a:pt x="557777" y="378967"/>
                    <a:pt x="359344" y="311216"/>
                  </a:cubicBezTo>
                  <a:cubicBezTo>
                    <a:pt x="245881" y="291075"/>
                    <a:pt x="140295" y="276238"/>
                    <a:pt x="47147" y="262014"/>
                  </a:cubicBez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F720743B-9C97-37DF-D56A-D2A9E750BD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7320892">
              <a:off x="11193220" y="1266534"/>
              <a:ext cx="1341234" cy="443910"/>
            </a:xfrm>
            <a:custGeom>
              <a:avLst/>
              <a:gdLst>
                <a:gd name="connsiteX0" fmla="*/ 0 w 1341234"/>
                <a:gd name="connsiteY0" fmla="*/ 254220 h 443910"/>
                <a:gd name="connsiteX1" fmla="*/ 406601 w 1341234"/>
                <a:gd name="connsiteY1" fmla="*/ 0 h 443910"/>
                <a:gd name="connsiteX2" fmla="*/ 457611 w 1341234"/>
                <a:gd name="connsiteY2" fmla="*/ 13676 h 443910"/>
                <a:gd name="connsiteX3" fmla="*/ 1341234 w 1341234"/>
                <a:gd name="connsiteY3" fmla="*/ 259580 h 443910"/>
                <a:gd name="connsiteX4" fmla="*/ 1301190 w 1341234"/>
                <a:gd name="connsiteY4" fmla="*/ 443736 h 443910"/>
                <a:gd name="connsiteX5" fmla="*/ 359344 w 1341234"/>
                <a:gd name="connsiteY5" fmla="*/ 311216 h 443910"/>
                <a:gd name="connsiteX6" fmla="*/ 47147 w 1341234"/>
                <a:gd name="connsiteY6" fmla="*/ 262014 h 44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1234" h="443910">
                  <a:moveTo>
                    <a:pt x="0" y="254220"/>
                  </a:moveTo>
                  <a:lnTo>
                    <a:pt x="406601" y="0"/>
                  </a:lnTo>
                  <a:lnTo>
                    <a:pt x="457611" y="13676"/>
                  </a:lnTo>
                  <a:cubicBezTo>
                    <a:pt x="858001" y="120586"/>
                    <a:pt x="1311317" y="239969"/>
                    <a:pt x="1341234" y="259580"/>
                  </a:cubicBezTo>
                  <a:cubicBezTo>
                    <a:pt x="1337155" y="299693"/>
                    <a:pt x="1315377" y="449736"/>
                    <a:pt x="1301190" y="443736"/>
                  </a:cubicBezTo>
                  <a:cubicBezTo>
                    <a:pt x="1267732" y="445553"/>
                    <a:pt x="557777" y="378967"/>
                    <a:pt x="359344" y="311216"/>
                  </a:cubicBezTo>
                  <a:cubicBezTo>
                    <a:pt x="245881" y="291075"/>
                    <a:pt x="140295" y="276238"/>
                    <a:pt x="47147" y="262014"/>
                  </a:cubicBezTo>
                  <a:close/>
                </a:path>
              </a:pathLst>
            </a:custGeom>
            <a:solidFill>
              <a:schemeClr val="accent3">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C3539A-A126-556F-3B61-690C785C7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9842612" flipH="1" flipV="1">
              <a:off x="10264608" y="74723"/>
              <a:ext cx="1083994" cy="1037613"/>
            </a:xfrm>
            <a:custGeom>
              <a:avLst/>
              <a:gdLst>
                <a:gd name="connsiteX0" fmla="*/ 886520 w 1083994"/>
                <a:gd name="connsiteY0" fmla="*/ 0 h 1037613"/>
                <a:gd name="connsiteX1" fmla="*/ 990233 w 1083994"/>
                <a:gd name="connsiteY1" fmla="*/ 29654 h 1037613"/>
                <a:gd name="connsiteX2" fmla="*/ 993535 w 1083994"/>
                <a:gd name="connsiteY2" fmla="*/ 43082 h 1037613"/>
                <a:gd name="connsiteX3" fmla="*/ 1051675 w 1083994"/>
                <a:gd name="connsiteY3" fmla="*/ 356973 h 1037613"/>
                <a:gd name="connsiteX4" fmla="*/ 1083975 w 1083994"/>
                <a:gd name="connsiteY4" fmla="*/ 602023 h 1037613"/>
                <a:gd name="connsiteX5" fmla="*/ 966613 w 1083994"/>
                <a:gd name="connsiteY5" fmla="*/ 901753 h 1037613"/>
                <a:gd name="connsiteX6" fmla="*/ 713135 w 1083994"/>
                <a:gd name="connsiteY6" fmla="*/ 1026319 h 1037613"/>
                <a:gd name="connsiteX7" fmla="*/ 318855 w 1083994"/>
                <a:gd name="connsiteY7" fmla="*/ 989106 h 1037613"/>
                <a:gd name="connsiteX8" fmla="*/ 128776 w 1083994"/>
                <a:gd name="connsiteY8" fmla="*/ 649273 h 1037613"/>
                <a:gd name="connsiteX9" fmla="*/ 0 w 1083994"/>
                <a:gd name="connsiteY9" fmla="*/ 49738 h 1037613"/>
                <a:gd name="connsiteX10" fmla="*/ 620956 w 1083994"/>
                <a:gd name="connsiteY10" fmla="*/ 642355 h 1037613"/>
                <a:gd name="connsiteX11" fmla="*/ 886064 w 1083994"/>
                <a:gd name="connsiteY11" fmla="*/ 1039 h 103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3994" h="1037613">
                  <a:moveTo>
                    <a:pt x="886520" y="0"/>
                  </a:moveTo>
                  <a:lnTo>
                    <a:pt x="990233" y="29654"/>
                  </a:lnTo>
                  <a:lnTo>
                    <a:pt x="993535" y="43082"/>
                  </a:lnTo>
                  <a:cubicBezTo>
                    <a:pt x="1016489" y="140998"/>
                    <a:pt x="1041157" y="264776"/>
                    <a:pt x="1051675" y="356973"/>
                  </a:cubicBezTo>
                  <a:lnTo>
                    <a:pt x="1083975" y="602023"/>
                  </a:lnTo>
                  <a:cubicBezTo>
                    <a:pt x="1084789" y="765231"/>
                    <a:pt x="1059669" y="806637"/>
                    <a:pt x="966613" y="901753"/>
                  </a:cubicBezTo>
                  <a:cubicBezTo>
                    <a:pt x="910153" y="966250"/>
                    <a:pt x="821095" y="1011760"/>
                    <a:pt x="713135" y="1026319"/>
                  </a:cubicBezTo>
                  <a:cubicBezTo>
                    <a:pt x="605175" y="1040878"/>
                    <a:pt x="416248" y="1051946"/>
                    <a:pt x="318855" y="989106"/>
                  </a:cubicBezTo>
                  <a:cubicBezTo>
                    <a:pt x="221462" y="926265"/>
                    <a:pt x="147001" y="727446"/>
                    <a:pt x="128776" y="649273"/>
                  </a:cubicBezTo>
                  <a:cubicBezTo>
                    <a:pt x="93895" y="519198"/>
                    <a:pt x="28063" y="235695"/>
                    <a:pt x="0" y="49738"/>
                  </a:cubicBezTo>
                  <a:cubicBezTo>
                    <a:pt x="152500" y="20987"/>
                    <a:pt x="429040" y="429202"/>
                    <a:pt x="620956" y="642355"/>
                  </a:cubicBezTo>
                  <a:cubicBezTo>
                    <a:pt x="695371" y="468649"/>
                    <a:pt x="814439" y="166732"/>
                    <a:pt x="886064" y="1039"/>
                  </a:cubicBez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E5089FB1-F28D-0DD0-436F-D094F3C82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9842612" flipH="1" flipV="1">
              <a:off x="10264609" y="74723"/>
              <a:ext cx="1083994" cy="1037611"/>
            </a:xfrm>
            <a:custGeom>
              <a:avLst/>
              <a:gdLst>
                <a:gd name="connsiteX0" fmla="*/ 886519 w 1083994"/>
                <a:gd name="connsiteY0" fmla="*/ 0 h 1037611"/>
                <a:gd name="connsiteX1" fmla="*/ 990233 w 1083994"/>
                <a:gd name="connsiteY1" fmla="*/ 29654 h 1037611"/>
                <a:gd name="connsiteX2" fmla="*/ 993535 w 1083994"/>
                <a:gd name="connsiteY2" fmla="*/ 43080 h 1037611"/>
                <a:gd name="connsiteX3" fmla="*/ 1051675 w 1083994"/>
                <a:gd name="connsiteY3" fmla="*/ 356971 h 1037611"/>
                <a:gd name="connsiteX4" fmla="*/ 1083975 w 1083994"/>
                <a:gd name="connsiteY4" fmla="*/ 602021 h 1037611"/>
                <a:gd name="connsiteX5" fmla="*/ 966613 w 1083994"/>
                <a:gd name="connsiteY5" fmla="*/ 901751 h 1037611"/>
                <a:gd name="connsiteX6" fmla="*/ 713135 w 1083994"/>
                <a:gd name="connsiteY6" fmla="*/ 1026317 h 1037611"/>
                <a:gd name="connsiteX7" fmla="*/ 318855 w 1083994"/>
                <a:gd name="connsiteY7" fmla="*/ 989104 h 1037611"/>
                <a:gd name="connsiteX8" fmla="*/ 128776 w 1083994"/>
                <a:gd name="connsiteY8" fmla="*/ 649271 h 1037611"/>
                <a:gd name="connsiteX9" fmla="*/ 0 w 1083994"/>
                <a:gd name="connsiteY9" fmla="*/ 49736 h 1037611"/>
                <a:gd name="connsiteX10" fmla="*/ 620956 w 1083994"/>
                <a:gd name="connsiteY10" fmla="*/ 642353 h 1037611"/>
                <a:gd name="connsiteX11" fmla="*/ 886064 w 1083994"/>
                <a:gd name="connsiteY11" fmla="*/ 1037 h 1037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3994" h="1037611">
                  <a:moveTo>
                    <a:pt x="886519" y="0"/>
                  </a:moveTo>
                  <a:lnTo>
                    <a:pt x="990233" y="29654"/>
                  </a:lnTo>
                  <a:lnTo>
                    <a:pt x="993535" y="43080"/>
                  </a:lnTo>
                  <a:cubicBezTo>
                    <a:pt x="1016489" y="140996"/>
                    <a:pt x="1041157" y="264774"/>
                    <a:pt x="1051675" y="356971"/>
                  </a:cubicBezTo>
                  <a:lnTo>
                    <a:pt x="1083975" y="602021"/>
                  </a:lnTo>
                  <a:cubicBezTo>
                    <a:pt x="1084789" y="765229"/>
                    <a:pt x="1059669" y="806635"/>
                    <a:pt x="966613" y="901751"/>
                  </a:cubicBezTo>
                  <a:cubicBezTo>
                    <a:pt x="910153" y="966248"/>
                    <a:pt x="821095" y="1011758"/>
                    <a:pt x="713135" y="1026317"/>
                  </a:cubicBezTo>
                  <a:cubicBezTo>
                    <a:pt x="605175" y="1040876"/>
                    <a:pt x="416248" y="1051944"/>
                    <a:pt x="318855" y="989104"/>
                  </a:cubicBezTo>
                  <a:cubicBezTo>
                    <a:pt x="221462" y="926263"/>
                    <a:pt x="147001" y="727444"/>
                    <a:pt x="128776" y="649271"/>
                  </a:cubicBezTo>
                  <a:cubicBezTo>
                    <a:pt x="93895" y="519196"/>
                    <a:pt x="28063" y="235693"/>
                    <a:pt x="0" y="49736"/>
                  </a:cubicBezTo>
                  <a:cubicBezTo>
                    <a:pt x="152500" y="20985"/>
                    <a:pt x="429040" y="429200"/>
                    <a:pt x="620956" y="642353"/>
                  </a:cubicBezTo>
                  <a:cubicBezTo>
                    <a:pt x="695371" y="468647"/>
                    <a:pt x="814439" y="166730"/>
                    <a:pt x="886064" y="1037"/>
                  </a:cubicBezTo>
                  <a:close/>
                </a:path>
              </a:pathLst>
            </a:custGeom>
            <a:solidFill>
              <a:schemeClr val="accent4">
                <a:lumMod val="40000"/>
                <a:lumOff val="60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5" name="Content Placeholder 2">
            <a:extLst>
              <a:ext uri="{FF2B5EF4-FFF2-40B4-BE49-F238E27FC236}">
                <a16:creationId xmlns:a16="http://schemas.microsoft.com/office/drawing/2014/main" id="{A4306FF2-1416-A1EE-7321-6EBD2C5009A4}"/>
              </a:ext>
            </a:extLst>
          </p:cNvPr>
          <p:cNvSpPr>
            <a:spLocks noGrp="1"/>
          </p:cNvSpPr>
          <p:nvPr>
            <p:ph idx="1"/>
          </p:nvPr>
        </p:nvSpPr>
        <p:spPr>
          <a:xfrm>
            <a:off x="6095999" y="2596243"/>
            <a:ext cx="5314581" cy="3573493"/>
          </a:xfrm>
        </p:spPr>
        <p:txBody>
          <a:bodyPr>
            <a:normAutofit/>
          </a:bodyPr>
          <a:lstStyle/>
          <a:p>
            <a:pPr algn="just"/>
            <a:r>
              <a:rPr lang="en-US" sz="1800" dirty="0"/>
              <a:t>Currently, standard agents may struggle to make efficient decisions in various gaming environments, limiting their effectiveness.</a:t>
            </a:r>
          </a:p>
          <a:p>
            <a:pPr algn="just"/>
            <a:r>
              <a:rPr lang="en-US" sz="1800" dirty="0"/>
              <a:t>That may be due to complex environments, incomplete information</a:t>
            </a:r>
          </a:p>
          <a:p>
            <a:pPr algn="just"/>
            <a:r>
              <a:rPr lang="en-US" sz="1800" dirty="0"/>
              <a:t>It is much important for an AI agents to make efficient decisions in complex environments like healthcare systems, autonomous systems and robotics.</a:t>
            </a:r>
          </a:p>
        </p:txBody>
      </p:sp>
    </p:spTree>
    <p:extLst>
      <p:ext uri="{BB962C8B-B14F-4D97-AF65-F5344CB8AC3E}">
        <p14:creationId xmlns:p14="http://schemas.microsoft.com/office/powerpoint/2010/main" val="6389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BE430D-1A9F-2B6B-266F-8D20613D051C}"/>
              </a:ext>
            </a:extLst>
          </p:cNvPr>
          <p:cNvSpPr>
            <a:spLocks noGrp="1"/>
          </p:cNvSpPr>
          <p:nvPr>
            <p:ph type="title"/>
          </p:nvPr>
        </p:nvSpPr>
        <p:spPr>
          <a:xfrm>
            <a:off x="643465" y="3505199"/>
            <a:ext cx="4809068" cy="2608143"/>
          </a:xfrm>
        </p:spPr>
        <p:txBody>
          <a:bodyPr anchor="t">
            <a:normAutofit/>
          </a:bodyPr>
          <a:lstStyle/>
          <a:p>
            <a:pPr algn="ctr"/>
            <a:r>
              <a:rPr lang="en-US" sz="4000" b="1" dirty="0">
                <a:latin typeface="+mn-lt"/>
              </a:rPr>
              <a:t>Methodology:</a:t>
            </a:r>
          </a:p>
        </p:txBody>
      </p:sp>
      <p:pic>
        <p:nvPicPr>
          <p:cNvPr id="30" name="Graphic 29" descr="Teacher">
            <a:extLst>
              <a:ext uri="{FF2B5EF4-FFF2-40B4-BE49-F238E27FC236}">
                <a16:creationId xmlns:a16="http://schemas.microsoft.com/office/drawing/2014/main" id="{E44E7A31-ED0D-CADB-DA40-78E2D7CF6D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0799" y="2519363"/>
            <a:ext cx="914400" cy="914400"/>
          </a:xfrm>
          <a:prstGeom prst="rect">
            <a:avLst/>
          </a:prstGeom>
        </p:spPr>
      </p:pic>
      <p:sp>
        <p:nvSpPr>
          <p:cNvPr id="3" name="Content Placeholder 2">
            <a:extLst>
              <a:ext uri="{FF2B5EF4-FFF2-40B4-BE49-F238E27FC236}">
                <a16:creationId xmlns:a16="http://schemas.microsoft.com/office/drawing/2014/main" id="{0169D120-5C09-E1F9-E651-DFEACFAC5A3E}"/>
              </a:ext>
            </a:extLst>
          </p:cNvPr>
          <p:cNvSpPr>
            <a:spLocks noGrp="1"/>
          </p:cNvSpPr>
          <p:nvPr>
            <p:ph idx="1"/>
          </p:nvPr>
        </p:nvSpPr>
        <p:spPr>
          <a:xfrm>
            <a:off x="4965406" y="804332"/>
            <a:ext cx="6710128" cy="5401733"/>
          </a:xfrm>
        </p:spPr>
        <p:txBody>
          <a:bodyPr anchor="ctr">
            <a:normAutofit/>
          </a:bodyPr>
          <a:lstStyle/>
          <a:p>
            <a:pPr marL="0" indent="0">
              <a:buNone/>
            </a:pPr>
            <a:r>
              <a:rPr lang="en-US" sz="1800" b="1" i="0" u="none" strike="noStrike" baseline="0" dirty="0"/>
              <a:t>Choose a reinforcement learning algorithm: (PPO, A</a:t>
            </a:r>
            <a:r>
              <a:rPr lang="en-US" sz="1800" b="1" dirty="0"/>
              <a:t>2C</a:t>
            </a:r>
            <a:r>
              <a:rPr lang="en-US" sz="1800" b="1" i="0" u="none" strike="noStrike" baseline="0" dirty="0"/>
              <a:t> and DDDQN).</a:t>
            </a:r>
          </a:p>
          <a:p>
            <a:pPr marL="0" indent="0">
              <a:buNone/>
            </a:pPr>
            <a:endParaRPr lang="en-US" sz="1800" b="1" i="0" u="none" strike="noStrike" baseline="0" dirty="0"/>
          </a:p>
          <a:p>
            <a:pPr marL="0" indent="0">
              <a:buNone/>
            </a:pPr>
            <a:r>
              <a:rPr lang="en-US" sz="1800" b="1" dirty="0"/>
              <a:t>Why Proximal Policy Algorithm (PPO):</a:t>
            </a:r>
          </a:p>
          <a:p>
            <a:pPr marL="0" indent="0">
              <a:buNone/>
            </a:pPr>
            <a:r>
              <a:rPr lang="en-US" sz="1800" b="1" dirty="0"/>
              <a:t>1. Empirical Success:</a:t>
            </a:r>
          </a:p>
          <a:p>
            <a:pPr marL="0" indent="0" algn="just">
              <a:buNone/>
            </a:pPr>
            <a:r>
              <a:rPr lang="en-US" sz="1800" dirty="0"/>
              <a:t>It has been successfully in both research and industry applications.</a:t>
            </a:r>
            <a:endParaRPr lang="en-US" sz="1800" b="1" dirty="0"/>
          </a:p>
          <a:p>
            <a:pPr marL="0" indent="0">
              <a:buNone/>
            </a:pPr>
            <a:r>
              <a:rPr lang="en-US" sz="1800" b="1" dirty="0"/>
              <a:t>2. Sample Efficiency: </a:t>
            </a:r>
          </a:p>
          <a:p>
            <a:pPr marL="0" indent="0" algn="just">
              <a:buNone/>
            </a:pPr>
            <a:r>
              <a:rPr lang="en-US" sz="1800" dirty="0"/>
              <a:t>It can achieve good results with fewer samples from the environment by adjusting how much it changes its strategy each times it learns.</a:t>
            </a:r>
          </a:p>
          <a:p>
            <a:pPr marL="0" indent="0">
              <a:buNone/>
            </a:pPr>
            <a:r>
              <a:rPr lang="en-US" sz="1800" b="1" dirty="0"/>
              <a:t>3. Stable Training:</a:t>
            </a:r>
          </a:p>
          <a:p>
            <a:pPr marL="0" indent="0" algn="just">
              <a:buNone/>
            </a:pPr>
            <a:r>
              <a:rPr lang="en-US" sz="1800" dirty="0"/>
              <a:t>PPO compares how likely the new strategy is compared to the old one and makes small adjustments accordingly. This helps the agent learn steadily without sudden swings or forgetting what it's learned before. </a:t>
            </a:r>
          </a:p>
        </p:txBody>
      </p:sp>
    </p:spTree>
    <p:extLst>
      <p:ext uri="{BB962C8B-B14F-4D97-AF65-F5344CB8AC3E}">
        <p14:creationId xmlns:p14="http://schemas.microsoft.com/office/powerpoint/2010/main" val="2474832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752A78-4085-DC0F-2045-C5FED8898403}"/>
              </a:ext>
            </a:extLst>
          </p:cNvPr>
          <p:cNvSpPr>
            <a:spLocks noGrp="1"/>
          </p:cNvSpPr>
          <p:nvPr>
            <p:ph type="title"/>
          </p:nvPr>
        </p:nvSpPr>
        <p:spPr>
          <a:xfrm>
            <a:off x="-1" y="3513931"/>
            <a:ext cx="4433777" cy="2601119"/>
          </a:xfrm>
        </p:spPr>
        <p:txBody>
          <a:bodyPr anchor="t">
            <a:normAutofit/>
          </a:bodyPr>
          <a:lstStyle/>
          <a:p>
            <a:pPr algn="ctr"/>
            <a:r>
              <a:rPr lang="en-US" sz="4000" b="1" dirty="0">
                <a:latin typeface="+mn-lt"/>
              </a:rPr>
              <a:t>Why Advantage Actor Critic (A2C):</a:t>
            </a:r>
          </a:p>
        </p:txBody>
      </p:sp>
      <p:pic>
        <p:nvPicPr>
          <p:cNvPr id="7" name="Graphic 6" descr="Workflow">
            <a:extLst>
              <a:ext uri="{FF2B5EF4-FFF2-40B4-BE49-F238E27FC236}">
                <a16:creationId xmlns:a16="http://schemas.microsoft.com/office/drawing/2014/main" id="{2E06BDBF-22EA-8E0D-5FCC-511C01C18D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80BFDD4A-D761-71E7-3011-F66F8BCB76D2}"/>
              </a:ext>
            </a:extLst>
          </p:cNvPr>
          <p:cNvSpPr>
            <a:spLocks noGrp="1"/>
          </p:cNvSpPr>
          <p:nvPr>
            <p:ph idx="1"/>
          </p:nvPr>
        </p:nvSpPr>
        <p:spPr>
          <a:xfrm>
            <a:off x="4633978" y="730249"/>
            <a:ext cx="7153147" cy="5384801"/>
          </a:xfrm>
        </p:spPr>
        <p:txBody>
          <a:bodyPr anchor="ctr">
            <a:normAutofit/>
          </a:bodyPr>
          <a:lstStyle/>
          <a:p>
            <a:pPr marL="0" indent="0">
              <a:buNone/>
            </a:pPr>
            <a:r>
              <a:rPr lang="en-US" sz="1800" b="1" dirty="0"/>
              <a:t>1. Value and Policy Learning:</a:t>
            </a:r>
          </a:p>
          <a:p>
            <a:pPr marL="0" indent="0" algn="just">
              <a:buNone/>
            </a:pPr>
            <a:r>
              <a:rPr lang="en-US" sz="1800" dirty="0"/>
              <a:t>Value-based methods in reinforcement learning estimate how good different situations or actions are, while policy-based methods directly learn the best way to act in each situation without worrying about estimating values. </a:t>
            </a:r>
          </a:p>
          <a:p>
            <a:pPr marL="0" indent="0" algn="just">
              <a:buNone/>
            </a:pPr>
            <a:endParaRPr lang="en-US" sz="1800" dirty="0"/>
          </a:p>
          <a:p>
            <a:pPr marL="0" indent="0" algn="just">
              <a:buNone/>
            </a:pPr>
            <a:r>
              <a:rPr lang="en-US" sz="1800" b="1" dirty="0"/>
              <a:t>2. Efficiency in Utilizing Experience:</a:t>
            </a:r>
          </a:p>
          <a:p>
            <a:pPr marL="0" indent="0" algn="just">
              <a:buNone/>
            </a:pPr>
            <a:r>
              <a:rPr lang="en-US" sz="1800" dirty="0"/>
              <a:t>It efficiently utilizes the agent’s experience by updating  both functions simultaneously using the same set of experiences leading to faster learning.</a:t>
            </a:r>
          </a:p>
          <a:p>
            <a:pPr marL="0" indent="0" algn="just">
              <a:buNone/>
            </a:pPr>
            <a:endParaRPr lang="en-US" sz="1800" dirty="0"/>
          </a:p>
          <a:p>
            <a:pPr marL="0" indent="0">
              <a:buNone/>
            </a:pPr>
            <a:r>
              <a:rPr lang="en-US" sz="1800" b="1" dirty="0"/>
              <a:t>3. Flexibility in architecture:</a:t>
            </a:r>
          </a:p>
          <a:p>
            <a:pPr marL="0" indent="0" algn="just">
              <a:buNone/>
            </a:pPr>
            <a:r>
              <a:rPr lang="en-US" sz="1800" dirty="0"/>
              <a:t>It can be implemented with various neural network architecture for the actor (action) and critic (value) networks making it suitable for different problem domains.</a:t>
            </a:r>
          </a:p>
        </p:txBody>
      </p:sp>
    </p:spTree>
    <p:extLst>
      <p:ext uri="{BB962C8B-B14F-4D97-AF65-F5344CB8AC3E}">
        <p14:creationId xmlns:p14="http://schemas.microsoft.com/office/powerpoint/2010/main" val="3691064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94EDB-3FDA-1B1B-1A33-9E9B4095B988}"/>
              </a:ext>
            </a:extLst>
          </p:cNvPr>
          <p:cNvSpPr>
            <a:spLocks noGrp="1"/>
          </p:cNvSpPr>
          <p:nvPr>
            <p:ph type="title"/>
          </p:nvPr>
        </p:nvSpPr>
        <p:spPr>
          <a:xfrm>
            <a:off x="0" y="3289217"/>
            <a:ext cx="5820835" cy="2608143"/>
          </a:xfrm>
        </p:spPr>
        <p:txBody>
          <a:bodyPr anchor="t">
            <a:normAutofit/>
          </a:bodyPr>
          <a:lstStyle/>
          <a:p>
            <a:pPr algn="ctr"/>
            <a:r>
              <a:rPr lang="en-US" sz="4000" b="1" dirty="0">
                <a:latin typeface="+mn-lt"/>
              </a:rPr>
              <a:t>Why Double Dueling Deep Q-Network (DDDQN):</a:t>
            </a:r>
            <a:endParaRPr lang="en-US" sz="4000" dirty="0"/>
          </a:p>
        </p:txBody>
      </p:sp>
      <p:pic>
        <p:nvPicPr>
          <p:cNvPr id="7" name="Graphic 6" descr="Fingerprint">
            <a:extLst>
              <a:ext uri="{FF2B5EF4-FFF2-40B4-BE49-F238E27FC236}">
                <a16:creationId xmlns:a16="http://schemas.microsoft.com/office/drawing/2014/main" id="{DED565C9-9E9D-8C89-F545-6831CA7B7D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6350" y="2328578"/>
            <a:ext cx="914400" cy="914400"/>
          </a:xfrm>
          <a:prstGeom prst="rect">
            <a:avLst/>
          </a:prstGeom>
        </p:spPr>
      </p:pic>
      <p:sp>
        <p:nvSpPr>
          <p:cNvPr id="3" name="Content Placeholder 2">
            <a:extLst>
              <a:ext uri="{FF2B5EF4-FFF2-40B4-BE49-F238E27FC236}">
                <a16:creationId xmlns:a16="http://schemas.microsoft.com/office/drawing/2014/main" id="{B63DC294-AA12-CE1D-C757-CB59EB9C8111}"/>
              </a:ext>
            </a:extLst>
          </p:cNvPr>
          <p:cNvSpPr>
            <a:spLocks noGrp="1"/>
          </p:cNvSpPr>
          <p:nvPr>
            <p:ph idx="1"/>
          </p:nvPr>
        </p:nvSpPr>
        <p:spPr>
          <a:xfrm>
            <a:off x="6007100" y="643467"/>
            <a:ext cx="5922630" cy="5401733"/>
          </a:xfrm>
        </p:spPr>
        <p:txBody>
          <a:bodyPr anchor="ctr">
            <a:normAutofit/>
          </a:bodyPr>
          <a:lstStyle/>
          <a:p>
            <a:pPr marL="0" indent="0">
              <a:buNone/>
            </a:pPr>
            <a:r>
              <a:rPr lang="en-US" sz="1800" b="1" dirty="0"/>
              <a:t>1. Improved learning stability</a:t>
            </a:r>
          </a:p>
          <a:p>
            <a:pPr marL="0" indent="0" algn="just">
              <a:buNone/>
            </a:pPr>
            <a:r>
              <a:rPr lang="en-US" sz="1800" dirty="0"/>
              <a:t>Builds upon the traditional DQN algorithm by adding the concept of Double Q learning which helps in stabilizing the learning process and mitigating over estimation bias.</a:t>
            </a:r>
          </a:p>
          <a:p>
            <a:pPr marL="0" indent="0" algn="just">
              <a:buNone/>
            </a:pPr>
            <a:endParaRPr lang="en-US" sz="1800" dirty="0"/>
          </a:p>
          <a:p>
            <a:pPr marL="0" indent="0">
              <a:buNone/>
            </a:pPr>
            <a:r>
              <a:rPr lang="en-US" sz="1800" b="1" dirty="0"/>
              <a:t>2. Enhanced Exploration-Exploitation tradeoff</a:t>
            </a:r>
          </a:p>
          <a:p>
            <a:pPr marL="0" indent="0" algn="just">
              <a:buNone/>
            </a:pPr>
            <a:r>
              <a:rPr lang="en-US" sz="1800" dirty="0"/>
              <a:t>By using 2 separate Q Networks for action selection and evaluation DDDQN can better balance exploration (trying new actions) and exploitation (using learned actions).</a:t>
            </a:r>
          </a:p>
          <a:p>
            <a:pPr marL="0" indent="0" algn="just">
              <a:buNone/>
            </a:pPr>
            <a:endParaRPr lang="en-US" sz="1800" dirty="0"/>
          </a:p>
          <a:p>
            <a:pPr marL="0" indent="0">
              <a:buNone/>
            </a:pPr>
            <a:r>
              <a:rPr lang="en-US" sz="1800" b="1" dirty="0"/>
              <a:t>3. Dueling Architecture:</a:t>
            </a:r>
          </a:p>
          <a:p>
            <a:pPr marL="0" indent="0" algn="just">
              <a:buNone/>
            </a:pPr>
            <a:r>
              <a:rPr lang="en-US" sz="1800" dirty="0"/>
              <a:t>It separates the value and advantage components of the Q values allowing the agent to learn the value of being in a particular state regardless of the chosen action.</a:t>
            </a:r>
          </a:p>
        </p:txBody>
      </p:sp>
    </p:spTree>
    <p:extLst>
      <p:ext uri="{BB962C8B-B14F-4D97-AF65-F5344CB8AC3E}">
        <p14:creationId xmlns:p14="http://schemas.microsoft.com/office/powerpoint/2010/main" val="1076862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EEB3-5916-1C6B-87D9-0A47A2DC5ACA}"/>
              </a:ext>
            </a:extLst>
          </p:cNvPr>
          <p:cNvSpPr>
            <a:spLocks noGrp="1"/>
          </p:cNvSpPr>
          <p:nvPr>
            <p:ph type="title"/>
          </p:nvPr>
        </p:nvSpPr>
        <p:spPr>
          <a:xfrm>
            <a:off x="4362733" y="1160299"/>
            <a:ext cx="5598202" cy="1402470"/>
          </a:xfrm>
        </p:spPr>
        <p:txBody>
          <a:bodyPr vert="horz" lIns="91440" tIns="45720" rIns="91440" bIns="45720" rtlCol="0" anchor="t">
            <a:normAutofit/>
          </a:bodyPr>
          <a:lstStyle/>
          <a:p>
            <a:r>
              <a:rPr lang="en-US" sz="3200" b="1" kern="1200" dirty="0">
                <a:solidFill>
                  <a:schemeClr val="tx1"/>
                </a:solidFill>
                <a:latin typeface="+mn-lt"/>
                <a:ea typeface="+mj-ea"/>
                <a:cs typeface="+mj-cs"/>
              </a:rPr>
              <a:t>Basic Scenario</a:t>
            </a:r>
          </a:p>
        </p:txBody>
      </p:sp>
      <p:pic>
        <p:nvPicPr>
          <p:cNvPr id="6" name="Content Placeholder 5" descr="A video game with an object in the middle of a room&#10;&#10;Description automatically generated">
            <a:extLst>
              <a:ext uri="{FF2B5EF4-FFF2-40B4-BE49-F238E27FC236}">
                <a16:creationId xmlns:a16="http://schemas.microsoft.com/office/drawing/2014/main" id="{67288C27-61A6-88DF-E04D-B22B50E0F6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8448" y="2423623"/>
            <a:ext cx="4365438" cy="3274078"/>
          </a:xfrm>
          <a:prstGeom prst="rect">
            <a:avLst/>
          </a:prstGeom>
        </p:spPr>
      </p:pic>
      <p:cxnSp>
        <p:nvCxnSpPr>
          <p:cNvPr id="12" name="Straight Connector 11">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8738"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BAFDCAF-A5A5-829F-9FB6-9A7F9644A9D6}"/>
              </a:ext>
            </a:extLst>
          </p:cNvPr>
          <p:cNvSpPr txBox="1"/>
          <p:nvPr/>
        </p:nvSpPr>
        <p:spPr>
          <a:xfrm>
            <a:off x="5755598" y="2551176"/>
            <a:ext cx="5444382" cy="3591207"/>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r>
              <a:rPr lang="en-US" sz="2000" dirty="0"/>
              <a:t>Agent has the properties of attacking, moving right and left.</a:t>
            </a:r>
          </a:p>
          <a:p>
            <a:pPr>
              <a:lnSpc>
                <a:spcPct val="90000"/>
              </a:lnSpc>
              <a:spcAft>
                <a:spcPts val="600"/>
              </a:spcAft>
            </a:pPr>
            <a:endParaRPr lang="en-US" sz="2000" dirty="0"/>
          </a:p>
          <a:p>
            <a:pPr marL="0" indent="-228600">
              <a:lnSpc>
                <a:spcPct val="90000"/>
              </a:lnSpc>
              <a:spcAft>
                <a:spcPts val="600"/>
              </a:spcAft>
              <a:buFont typeface="Arial" panose="020B0604020202020204" pitchFamily="34" charset="0"/>
              <a:buChar char="•"/>
            </a:pPr>
            <a:r>
              <a:rPr lang="en-US" sz="2000" dirty="0"/>
              <a:t>Agents reside in a room with a single enemy.</a:t>
            </a:r>
          </a:p>
        </p:txBody>
      </p:sp>
    </p:spTree>
    <p:extLst>
      <p:ext uri="{BB962C8B-B14F-4D97-AF65-F5344CB8AC3E}">
        <p14:creationId xmlns:p14="http://schemas.microsoft.com/office/powerpoint/2010/main" val="2345058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DF274-1912-851B-D2E4-2254D420E155}"/>
              </a:ext>
            </a:extLst>
          </p:cNvPr>
          <p:cNvSpPr>
            <a:spLocks noGrp="1"/>
          </p:cNvSpPr>
          <p:nvPr>
            <p:ph type="title"/>
          </p:nvPr>
        </p:nvSpPr>
        <p:spPr>
          <a:xfrm>
            <a:off x="3894901" y="1318271"/>
            <a:ext cx="5598202" cy="1402470"/>
          </a:xfrm>
        </p:spPr>
        <p:txBody>
          <a:bodyPr vert="horz" lIns="91440" tIns="45720" rIns="91440" bIns="45720" rtlCol="0" anchor="t">
            <a:normAutofit/>
          </a:bodyPr>
          <a:lstStyle/>
          <a:p>
            <a:r>
              <a:rPr lang="en-US" sz="3200" b="1" kern="1200" dirty="0">
                <a:solidFill>
                  <a:schemeClr val="tx1"/>
                </a:solidFill>
                <a:latin typeface="+mn-lt"/>
                <a:ea typeface="+mj-ea"/>
                <a:cs typeface="+mj-cs"/>
              </a:rPr>
              <a:t>Defend the Center</a:t>
            </a:r>
            <a:endParaRPr lang="en-US" sz="3200" kern="1200" dirty="0">
              <a:solidFill>
                <a:schemeClr val="tx1"/>
              </a:solidFill>
              <a:latin typeface="+mn-lt"/>
              <a:ea typeface="+mj-ea"/>
              <a:cs typeface="+mj-cs"/>
            </a:endParaRPr>
          </a:p>
        </p:txBody>
      </p:sp>
      <p:pic>
        <p:nvPicPr>
          <p:cNvPr id="10" name="Content Placeholder 9" descr="A video game with a group of people&#10;&#10;Description automatically generated">
            <a:extLst>
              <a:ext uri="{FF2B5EF4-FFF2-40B4-BE49-F238E27FC236}">
                <a16:creationId xmlns:a16="http://schemas.microsoft.com/office/drawing/2014/main" id="{C0A1CC10-8E33-9A11-AD0B-57A31F4E83C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558" t="17520" r="26976" b="1860"/>
          <a:stretch/>
        </p:blipFill>
        <p:spPr>
          <a:xfrm>
            <a:off x="795285" y="2412396"/>
            <a:ext cx="4365438" cy="3274023"/>
          </a:xfrm>
          <a:prstGeom prst="rect">
            <a:avLst/>
          </a:prstGeom>
        </p:spPr>
      </p:pic>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8738"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9D4F52E-EC35-4CF7-D39E-0161B717AA15}"/>
              </a:ext>
            </a:extLst>
          </p:cNvPr>
          <p:cNvSpPr txBox="1"/>
          <p:nvPr/>
        </p:nvSpPr>
        <p:spPr>
          <a:xfrm>
            <a:off x="5755598" y="2551176"/>
            <a:ext cx="5444382" cy="3591207"/>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Agent can only turn and shoot left and right.</a:t>
            </a:r>
          </a:p>
          <a:p>
            <a:pPr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Agent has limited ammunition.</a:t>
            </a:r>
          </a:p>
          <a:p>
            <a:pPr marL="28575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Goal is to kill as many enemies as possible and agent receives a reward for killing the opponent.</a:t>
            </a:r>
          </a:p>
        </p:txBody>
      </p:sp>
    </p:spTree>
    <p:extLst>
      <p:ext uri="{BB962C8B-B14F-4D97-AF65-F5344CB8AC3E}">
        <p14:creationId xmlns:p14="http://schemas.microsoft.com/office/powerpoint/2010/main" val="242174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E44D8-502B-03F2-76C4-90E3787D79E2}"/>
              </a:ext>
            </a:extLst>
          </p:cNvPr>
          <p:cNvSpPr>
            <a:spLocks noGrp="1"/>
          </p:cNvSpPr>
          <p:nvPr>
            <p:ph type="title"/>
          </p:nvPr>
        </p:nvSpPr>
        <p:spPr>
          <a:xfrm>
            <a:off x="4150082" y="1148706"/>
            <a:ext cx="5598202" cy="1402470"/>
          </a:xfrm>
        </p:spPr>
        <p:txBody>
          <a:bodyPr anchor="t">
            <a:normAutofit/>
          </a:bodyPr>
          <a:lstStyle/>
          <a:p>
            <a:r>
              <a:rPr lang="en-US" sz="3200" b="1" dirty="0">
                <a:latin typeface="+mn-lt"/>
              </a:rPr>
              <a:t>Deadly Corridor</a:t>
            </a:r>
          </a:p>
        </p:txBody>
      </p:sp>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8738"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948CDA6-53A8-904F-4EF9-13A5BC0F8A5E}"/>
              </a:ext>
            </a:extLst>
          </p:cNvPr>
          <p:cNvSpPr>
            <a:spLocks noGrp="1"/>
          </p:cNvSpPr>
          <p:nvPr>
            <p:ph idx="1"/>
          </p:nvPr>
        </p:nvSpPr>
        <p:spPr>
          <a:xfrm>
            <a:off x="5755598" y="2551176"/>
            <a:ext cx="5748830" cy="3591207"/>
          </a:xfrm>
        </p:spPr>
        <p:txBody>
          <a:bodyPr>
            <a:normAutofit/>
          </a:bodyPr>
          <a:lstStyle/>
          <a:p>
            <a:r>
              <a:rPr lang="en-US" sz="2000" dirty="0"/>
              <a:t>Agent has the properties of moving left, right, forward, backward, turning left, right and attacking.</a:t>
            </a:r>
          </a:p>
          <a:p>
            <a:pPr marL="0" indent="0">
              <a:buNone/>
            </a:pPr>
            <a:endParaRPr lang="en-US" sz="2000" dirty="0"/>
          </a:p>
          <a:p>
            <a:r>
              <a:rPr lang="en-US" sz="2000" dirty="0"/>
              <a:t>Main aim is to reach the goal.</a:t>
            </a:r>
          </a:p>
          <a:p>
            <a:pPr marL="0" indent="0">
              <a:buNone/>
            </a:pPr>
            <a:endParaRPr lang="en-US" sz="2000" dirty="0"/>
          </a:p>
          <a:p>
            <a:r>
              <a:rPr lang="en-US" sz="2000" dirty="0"/>
              <a:t>Agent appear in a room with 6 enemies at left and right.</a:t>
            </a:r>
          </a:p>
          <a:p>
            <a:pPr marL="0" indent="0">
              <a:buNone/>
            </a:pPr>
            <a:endParaRPr lang="en-US" sz="2000" dirty="0"/>
          </a:p>
        </p:txBody>
      </p:sp>
      <p:pic>
        <p:nvPicPr>
          <p:cNvPr id="12" name="Picture 11" descr="A video game with a couple of men standing in a tunnel&#10;&#10;Description automatically generated">
            <a:extLst>
              <a:ext uri="{FF2B5EF4-FFF2-40B4-BE49-F238E27FC236}">
                <a16:creationId xmlns:a16="http://schemas.microsoft.com/office/drawing/2014/main" id="{D1BA130A-6ABD-401B-E057-AF83D5C16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998" y="2474892"/>
            <a:ext cx="4298161" cy="3234402"/>
          </a:xfrm>
          <a:prstGeom prst="rect">
            <a:avLst/>
          </a:prstGeom>
        </p:spPr>
      </p:pic>
    </p:spTree>
    <p:extLst>
      <p:ext uri="{BB962C8B-B14F-4D97-AF65-F5344CB8AC3E}">
        <p14:creationId xmlns:p14="http://schemas.microsoft.com/office/powerpoint/2010/main" val="911738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11CFA-5692-0150-9187-1356BDBC99A8}"/>
              </a:ext>
            </a:extLst>
          </p:cNvPr>
          <p:cNvSpPr>
            <a:spLocks noGrp="1"/>
          </p:cNvSpPr>
          <p:nvPr>
            <p:ph type="title"/>
          </p:nvPr>
        </p:nvSpPr>
        <p:spPr/>
        <p:txBody>
          <a:bodyPr>
            <a:normAutofit/>
          </a:bodyPr>
          <a:lstStyle/>
          <a:p>
            <a:r>
              <a:rPr lang="en-US" sz="4000" b="1" dirty="0">
                <a:latin typeface="+mn-lt"/>
              </a:rPr>
              <a:t>Graphs of Basic Scenario</a:t>
            </a:r>
            <a:endParaRPr lang="en-US" sz="4000" dirty="0"/>
          </a:p>
        </p:txBody>
      </p:sp>
      <p:sp>
        <p:nvSpPr>
          <p:cNvPr id="3" name="Content Placeholder 2">
            <a:extLst>
              <a:ext uri="{FF2B5EF4-FFF2-40B4-BE49-F238E27FC236}">
                <a16:creationId xmlns:a16="http://schemas.microsoft.com/office/drawing/2014/main" id="{A86AD113-1DFB-7067-4D68-A6CEAD311402}"/>
              </a:ext>
            </a:extLst>
          </p:cNvPr>
          <p:cNvSpPr>
            <a:spLocks noGrp="1"/>
          </p:cNvSpPr>
          <p:nvPr>
            <p:ph idx="1"/>
          </p:nvPr>
        </p:nvSpPr>
        <p:spPr/>
        <p:txBody>
          <a:bodyPr/>
          <a:lstStyle/>
          <a:p>
            <a:pPr marL="0" indent="0">
              <a:buNone/>
            </a:pPr>
            <a:r>
              <a:rPr lang="en-US" sz="2000" b="1" dirty="0"/>
              <a:t>Kills using PPO			                       Average Reward using PPO</a:t>
            </a:r>
          </a:p>
          <a:p>
            <a:pPr marL="0" indent="0">
              <a:buNone/>
            </a:pPr>
            <a:endParaRPr lang="en-US" sz="2000" b="1" dirty="0"/>
          </a:p>
          <a:p>
            <a:pPr marL="0" indent="0">
              <a:buNone/>
            </a:pPr>
            <a:endParaRPr lang="en-US" sz="2000" b="1" dirty="0"/>
          </a:p>
          <a:p>
            <a:pPr marL="0" indent="0">
              <a:buNone/>
            </a:pPr>
            <a:endParaRPr lang="en-US" dirty="0"/>
          </a:p>
        </p:txBody>
      </p:sp>
      <p:pic>
        <p:nvPicPr>
          <p:cNvPr id="5" name="Picture 4" descr="A graph with a line&#10;&#10;Description automatically generated">
            <a:extLst>
              <a:ext uri="{FF2B5EF4-FFF2-40B4-BE49-F238E27FC236}">
                <a16:creationId xmlns:a16="http://schemas.microsoft.com/office/drawing/2014/main" id="{ADFBD1BA-3FC9-D499-3508-3E7C42EE6314}"/>
              </a:ext>
            </a:extLst>
          </p:cNvPr>
          <p:cNvPicPr>
            <a:picLocks noChangeAspect="1"/>
          </p:cNvPicPr>
          <p:nvPr/>
        </p:nvPicPr>
        <p:blipFill>
          <a:blip r:embed="rId2"/>
          <a:stretch>
            <a:fillRect/>
          </a:stretch>
        </p:blipFill>
        <p:spPr>
          <a:xfrm>
            <a:off x="957751" y="2294255"/>
            <a:ext cx="4499524" cy="2989686"/>
          </a:xfrm>
          <a:prstGeom prst="rect">
            <a:avLst/>
          </a:prstGeom>
          <a:ln>
            <a:solidFill>
              <a:schemeClr val="tx1"/>
            </a:solidFill>
          </a:ln>
        </p:spPr>
      </p:pic>
      <p:pic>
        <p:nvPicPr>
          <p:cNvPr id="8" name="Picture 7">
            <a:extLst>
              <a:ext uri="{FF2B5EF4-FFF2-40B4-BE49-F238E27FC236}">
                <a16:creationId xmlns:a16="http://schemas.microsoft.com/office/drawing/2014/main" id="{C02F6AAC-A9E7-B9FA-0A0E-85296A1EFA05}"/>
              </a:ext>
            </a:extLst>
          </p:cNvPr>
          <p:cNvPicPr>
            <a:picLocks noChangeAspect="1"/>
          </p:cNvPicPr>
          <p:nvPr/>
        </p:nvPicPr>
        <p:blipFill>
          <a:blip r:embed="rId3"/>
          <a:stretch>
            <a:fillRect/>
          </a:stretch>
        </p:blipFill>
        <p:spPr>
          <a:xfrm>
            <a:off x="5901587" y="2294255"/>
            <a:ext cx="4029222" cy="2990538"/>
          </a:xfrm>
          <a:prstGeom prst="rect">
            <a:avLst/>
          </a:prstGeom>
          <a:ln>
            <a:solidFill>
              <a:schemeClr val="tx1"/>
            </a:solidFill>
          </a:ln>
        </p:spPr>
      </p:pic>
    </p:spTree>
    <p:extLst>
      <p:ext uri="{BB962C8B-B14F-4D97-AF65-F5344CB8AC3E}">
        <p14:creationId xmlns:p14="http://schemas.microsoft.com/office/powerpoint/2010/main" val="3583434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846B-5842-261C-E911-197ABD312FF3}"/>
              </a:ext>
            </a:extLst>
          </p:cNvPr>
          <p:cNvSpPr>
            <a:spLocks noGrp="1"/>
          </p:cNvSpPr>
          <p:nvPr>
            <p:ph type="title"/>
          </p:nvPr>
        </p:nvSpPr>
        <p:spPr/>
        <p:txBody>
          <a:bodyPr>
            <a:normAutofit/>
          </a:bodyPr>
          <a:lstStyle/>
          <a:p>
            <a:r>
              <a:rPr lang="en-US" sz="4000" b="1" dirty="0">
                <a:latin typeface="+mn-lt"/>
              </a:rPr>
              <a:t>Graphs of Deadly Corridor Scenario </a:t>
            </a:r>
          </a:p>
        </p:txBody>
      </p:sp>
      <p:sp>
        <p:nvSpPr>
          <p:cNvPr id="3" name="Content Placeholder 2">
            <a:extLst>
              <a:ext uri="{FF2B5EF4-FFF2-40B4-BE49-F238E27FC236}">
                <a16:creationId xmlns:a16="http://schemas.microsoft.com/office/drawing/2014/main" id="{CCA98475-5D2C-253E-481D-A1BA28D110FF}"/>
              </a:ext>
            </a:extLst>
          </p:cNvPr>
          <p:cNvSpPr>
            <a:spLocks noGrp="1"/>
          </p:cNvSpPr>
          <p:nvPr>
            <p:ph idx="1"/>
          </p:nvPr>
        </p:nvSpPr>
        <p:spPr/>
        <p:txBody>
          <a:bodyPr>
            <a:normAutofit/>
          </a:bodyPr>
          <a:lstStyle/>
          <a:p>
            <a:pPr marL="0" indent="0">
              <a:buNone/>
            </a:pPr>
            <a:r>
              <a:rPr lang="en-US" sz="2000" b="1" dirty="0"/>
              <a:t>Kills using PPO 		   		     Average Reward using PPO</a:t>
            </a:r>
          </a:p>
          <a:p>
            <a:pPr marL="0" indent="0">
              <a:buNone/>
            </a:pPr>
            <a:endParaRPr lang="en-US" sz="2000" b="1" dirty="0"/>
          </a:p>
          <a:p>
            <a:pPr marL="0" indent="0">
              <a:buNone/>
            </a:pPr>
            <a:endParaRPr lang="en-US" sz="2000" dirty="0"/>
          </a:p>
        </p:txBody>
      </p:sp>
      <p:pic>
        <p:nvPicPr>
          <p:cNvPr id="4" name="Picture 3">
            <a:extLst>
              <a:ext uri="{FF2B5EF4-FFF2-40B4-BE49-F238E27FC236}">
                <a16:creationId xmlns:a16="http://schemas.microsoft.com/office/drawing/2014/main" id="{C7FD12AA-9058-993D-E14B-360FFD5F74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543" y="2318960"/>
            <a:ext cx="4614041" cy="2859095"/>
          </a:xfrm>
          <a:prstGeom prst="rect">
            <a:avLst/>
          </a:prstGeom>
          <a:ln>
            <a:solidFill>
              <a:schemeClr val="tx1"/>
            </a:solidFill>
          </a:ln>
        </p:spPr>
      </p:pic>
      <p:pic>
        <p:nvPicPr>
          <p:cNvPr id="6" name="Picture 5" descr="A graph showing a long line&#10;&#10;Description automatically generated">
            <a:extLst>
              <a:ext uri="{FF2B5EF4-FFF2-40B4-BE49-F238E27FC236}">
                <a16:creationId xmlns:a16="http://schemas.microsoft.com/office/drawing/2014/main" id="{5E5880AA-D05B-5440-9ABF-539F6D4E7AF3}"/>
              </a:ext>
            </a:extLst>
          </p:cNvPr>
          <p:cNvPicPr>
            <a:picLocks noChangeAspect="1"/>
          </p:cNvPicPr>
          <p:nvPr/>
        </p:nvPicPr>
        <p:blipFill>
          <a:blip r:embed="rId3"/>
          <a:stretch>
            <a:fillRect/>
          </a:stretch>
        </p:blipFill>
        <p:spPr>
          <a:xfrm>
            <a:off x="5812171" y="2318959"/>
            <a:ext cx="4579847" cy="2859095"/>
          </a:xfrm>
          <a:prstGeom prst="rect">
            <a:avLst/>
          </a:prstGeom>
          <a:ln>
            <a:solidFill>
              <a:schemeClr val="tx1"/>
            </a:solidFill>
          </a:ln>
        </p:spPr>
      </p:pic>
    </p:spTree>
    <p:extLst>
      <p:ext uri="{BB962C8B-B14F-4D97-AF65-F5344CB8AC3E}">
        <p14:creationId xmlns:p14="http://schemas.microsoft.com/office/powerpoint/2010/main" val="1243051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11CFA-5692-0150-9187-1356BDBC99A8}"/>
              </a:ext>
            </a:extLst>
          </p:cNvPr>
          <p:cNvSpPr>
            <a:spLocks noGrp="1"/>
          </p:cNvSpPr>
          <p:nvPr>
            <p:ph type="title"/>
          </p:nvPr>
        </p:nvSpPr>
        <p:spPr/>
        <p:txBody>
          <a:bodyPr>
            <a:normAutofit/>
          </a:bodyPr>
          <a:lstStyle/>
          <a:p>
            <a:r>
              <a:rPr lang="en-US" sz="4000" b="1" dirty="0">
                <a:latin typeface="+mn-lt"/>
              </a:rPr>
              <a:t>Graphs of Defend the Center Scenario</a:t>
            </a:r>
            <a:endParaRPr lang="en-US" sz="4000" dirty="0"/>
          </a:p>
        </p:txBody>
      </p:sp>
      <p:sp>
        <p:nvSpPr>
          <p:cNvPr id="3" name="Content Placeholder 2">
            <a:extLst>
              <a:ext uri="{FF2B5EF4-FFF2-40B4-BE49-F238E27FC236}">
                <a16:creationId xmlns:a16="http://schemas.microsoft.com/office/drawing/2014/main" id="{A86AD113-1DFB-7067-4D68-A6CEAD311402}"/>
              </a:ext>
            </a:extLst>
          </p:cNvPr>
          <p:cNvSpPr>
            <a:spLocks noGrp="1"/>
          </p:cNvSpPr>
          <p:nvPr>
            <p:ph idx="1"/>
          </p:nvPr>
        </p:nvSpPr>
        <p:spPr/>
        <p:txBody>
          <a:bodyPr/>
          <a:lstStyle/>
          <a:p>
            <a:pPr marL="0" indent="0">
              <a:buNone/>
            </a:pPr>
            <a:r>
              <a:rPr lang="en-US" sz="2000" b="1" dirty="0"/>
              <a:t>Kills using PPO			               Average Reward using PPO</a:t>
            </a:r>
          </a:p>
          <a:p>
            <a:pPr marL="0" indent="0">
              <a:buNone/>
            </a:pPr>
            <a:endParaRPr lang="en-US" sz="2000" b="1" dirty="0"/>
          </a:p>
          <a:p>
            <a:pPr marL="0" indent="0">
              <a:buNone/>
            </a:pPr>
            <a:endParaRPr lang="en-US" sz="2000" b="1" dirty="0"/>
          </a:p>
          <a:p>
            <a:pPr marL="0" indent="0">
              <a:buNone/>
            </a:pPr>
            <a:endParaRPr lang="en-US" dirty="0"/>
          </a:p>
        </p:txBody>
      </p:sp>
      <p:pic>
        <p:nvPicPr>
          <p:cNvPr id="4" name="Picture 3">
            <a:extLst>
              <a:ext uri="{FF2B5EF4-FFF2-40B4-BE49-F238E27FC236}">
                <a16:creationId xmlns:a16="http://schemas.microsoft.com/office/drawing/2014/main" id="{0B784BE4-DC8B-A09F-A174-27DB400DA16D}"/>
              </a:ext>
            </a:extLst>
          </p:cNvPr>
          <p:cNvPicPr>
            <a:picLocks noChangeAspect="1"/>
          </p:cNvPicPr>
          <p:nvPr/>
        </p:nvPicPr>
        <p:blipFill>
          <a:blip r:embed="rId2"/>
          <a:stretch>
            <a:fillRect/>
          </a:stretch>
        </p:blipFill>
        <p:spPr>
          <a:xfrm>
            <a:off x="942988" y="2295569"/>
            <a:ext cx="4269741" cy="2955975"/>
          </a:xfrm>
          <a:prstGeom prst="rect">
            <a:avLst/>
          </a:prstGeom>
          <a:ln>
            <a:solidFill>
              <a:schemeClr val="tx1"/>
            </a:solidFill>
          </a:ln>
        </p:spPr>
      </p:pic>
      <p:pic>
        <p:nvPicPr>
          <p:cNvPr id="6" name="Picture 5" descr="A graph showing a long line&#10;&#10;Description automatically generated">
            <a:extLst>
              <a:ext uri="{FF2B5EF4-FFF2-40B4-BE49-F238E27FC236}">
                <a16:creationId xmlns:a16="http://schemas.microsoft.com/office/drawing/2014/main" id="{BEBDDF95-74AB-8108-8090-6D781C82517D}"/>
              </a:ext>
            </a:extLst>
          </p:cNvPr>
          <p:cNvPicPr>
            <a:picLocks noChangeAspect="1"/>
          </p:cNvPicPr>
          <p:nvPr/>
        </p:nvPicPr>
        <p:blipFill>
          <a:blip r:embed="rId3"/>
          <a:stretch>
            <a:fillRect/>
          </a:stretch>
        </p:blipFill>
        <p:spPr>
          <a:xfrm>
            <a:off x="5457275" y="2295568"/>
            <a:ext cx="4269741" cy="2947728"/>
          </a:xfrm>
          <a:prstGeom prst="rect">
            <a:avLst/>
          </a:prstGeom>
          <a:ln>
            <a:solidFill>
              <a:schemeClr val="tx1"/>
            </a:solidFill>
          </a:ln>
        </p:spPr>
      </p:pic>
    </p:spTree>
    <p:extLst>
      <p:ext uri="{BB962C8B-B14F-4D97-AF65-F5344CB8AC3E}">
        <p14:creationId xmlns:p14="http://schemas.microsoft.com/office/powerpoint/2010/main" val="1453713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1966-B5E5-6E6F-5BDD-06C7F0BAFC95}"/>
              </a:ext>
            </a:extLst>
          </p:cNvPr>
          <p:cNvSpPr>
            <a:spLocks noGrp="1"/>
          </p:cNvSpPr>
          <p:nvPr>
            <p:ph type="title"/>
          </p:nvPr>
        </p:nvSpPr>
        <p:spPr/>
        <p:txBody>
          <a:bodyPr>
            <a:normAutofit/>
          </a:bodyPr>
          <a:lstStyle/>
          <a:p>
            <a:r>
              <a:rPr lang="en-US" sz="4000" b="1" dirty="0">
                <a:latin typeface="+mn-lt"/>
              </a:rPr>
              <a:t>Hyperparameters</a:t>
            </a:r>
          </a:p>
        </p:txBody>
      </p:sp>
      <p:sp>
        <p:nvSpPr>
          <p:cNvPr id="3" name="Content Placeholder 2">
            <a:extLst>
              <a:ext uri="{FF2B5EF4-FFF2-40B4-BE49-F238E27FC236}">
                <a16:creationId xmlns:a16="http://schemas.microsoft.com/office/drawing/2014/main" id="{8F01D124-C448-8916-4AF4-2F9D46B4D0EA}"/>
              </a:ext>
            </a:extLst>
          </p:cNvPr>
          <p:cNvSpPr>
            <a:spLocks noGrp="1"/>
          </p:cNvSpPr>
          <p:nvPr>
            <p:ph idx="1"/>
          </p:nvPr>
        </p:nvSpPr>
        <p:spPr>
          <a:xfrm>
            <a:off x="838200" y="1825625"/>
            <a:ext cx="10515600" cy="4667250"/>
          </a:xfrm>
        </p:spPr>
        <p:txBody>
          <a:bodyPr>
            <a:normAutofit/>
          </a:bodyPr>
          <a:lstStyle/>
          <a:p>
            <a:pPr marL="0" indent="0" algn="just">
              <a:buNone/>
            </a:pPr>
            <a:r>
              <a:rPr lang="en-US" sz="1800" b="1" dirty="0"/>
              <a:t>1. Learning Rate:</a:t>
            </a:r>
          </a:p>
          <a:p>
            <a:pPr marL="0" indent="0" algn="just">
              <a:buNone/>
            </a:pPr>
            <a:r>
              <a:rPr lang="en-US" sz="1800" dirty="0"/>
              <a:t>High Learning rate agent initially learns quickly but could overshoot the policy and become unstable. It is the opposite for low learning rate agent.</a:t>
            </a:r>
          </a:p>
          <a:p>
            <a:pPr marL="0" indent="0" algn="just">
              <a:buNone/>
            </a:pPr>
            <a:r>
              <a:rPr lang="en-US" sz="1800" b="1" dirty="0"/>
              <a:t>2. Timesteps:</a:t>
            </a:r>
          </a:p>
          <a:p>
            <a:pPr marL="0" indent="0" algn="just">
              <a:buNone/>
            </a:pPr>
            <a:r>
              <a:rPr lang="en-US" sz="1800" dirty="0"/>
              <a:t>Shorter timesteps trained agent might not have enough time to explore the environment fully and learn an optimal policy. It is opposite the other way.</a:t>
            </a:r>
          </a:p>
          <a:p>
            <a:pPr marL="0" indent="0" algn="just">
              <a:buNone/>
            </a:pPr>
            <a:r>
              <a:rPr lang="en-US" sz="1800" b="1" dirty="0"/>
              <a:t>3. Batch Size:</a:t>
            </a:r>
          </a:p>
          <a:p>
            <a:pPr marL="0" indent="0" algn="just">
              <a:buNone/>
            </a:pPr>
            <a:r>
              <a:rPr lang="en-US" sz="1800" dirty="0"/>
              <a:t>Smaller batch trained agents might experience more variability in learning due to noisy updates. On the flip side larger ones could have smoother learning but require more memory and resources.</a:t>
            </a:r>
          </a:p>
          <a:p>
            <a:pPr marL="0" indent="0" algn="just">
              <a:buNone/>
            </a:pPr>
            <a:r>
              <a:rPr lang="en-US" sz="1800" b="1" dirty="0"/>
              <a:t>4. Number of Steps:</a:t>
            </a:r>
          </a:p>
          <a:p>
            <a:pPr marL="0" indent="0" algn="just">
              <a:buNone/>
            </a:pPr>
            <a:r>
              <a:rPr lang="en-US" sz="1800" dirty="0"/>
              <a:t>It determines the length of the trajectories used to estimate the policy gradient. Larger values may lead to more accurate gradient estimates but require more computational resources. </a:t>
            </a:r>
          </a:p>
        </p:txBody>
      </p:sp>
    </p:spTree>
    <p:extLst>
      <p:ext uri="{BB962C8B-B14F-4D97-AF65-F5344CB8AC3E}">
        <p14:creationId xmlns:p14="http://schemas.microsoft.com/office/powerpoint/2010/main" val="1524846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A611-C3DA-13AC-7126-B868749A6715}"/>
              </a:ext>
            </a:extLst>
          </p:cNvPr>
          <p:cNvSpPr>
            <a:spLocks noGrp="1"/>
          </p:cNvSpPr>
          <p:nvPr>
            <p:ph type="title"/>
          </p:nvPr>
        </p:nvSpPr>
        <p:spPr/>
        <p:txBody>
          <a:bodyPr>
            <a:normAutofit/>
          </a:bodyPr>
          <a:lstStyle/>
          <a:p>
            <a:r>
              <a:rPr lang="en-US" sz="4000" b="1" dirty="0">
                <a:latin typeface="+mn-lt"/>
              </a:rPr>
              <a:t>Hyperparameters in Training</a:t>
            </a:r>
          </a:p>
        </p:txBody>
      </p:sp>
      <p:sp>
        <p:nvSpPr>
          <p:cNvPr id="3" name="Content Placeholder 2">
            <a:extLst>
              <a:ext uri="{FF2B5EF4-FFF2-40B4-BE49-F238E27FC236}">
                <a16:creationId xmlns:a16="http://schemas.microsoft.com/office/drawing/2014/main" id="{440DB440-7212-216F-2631-01C718025317}"/>
              </a:ext>
            </a:extLst>
          </p:cNvPr>
          <p:cNvSpPr>
            <a:spLocks noGrp="1"/>
          </p:cNvSpPr>
          <p:nvPr>
            <p:ph idx="1"/>
          </p:nvPr>
        </p:nvSpPr>
        <p:spPr/>
        <p:txBody>
          <a:bodyPr>
            <a:normAutofit/>
          </a:bodyPr>
          <a:lstStyle/>
          <a:p>
            <a:pPr marL="0" indent="0" algn="just">
              <a:buNone/>
            </a:pPr>
            <a:r>
              <a:rPr lang="en-US" sz="1800" b="1" dirty="0">
                <a:cs typeface="Times New Roman" panose="02020603050405020304" pitchFamily="18" charset="0"/>
              </a:rPr>
              <a:t>A2C Training:</a:t>
            </a:r>
          </a:p>
          <a:p>
            <a:pPr marL="0" indent="0" algn="just">
              <a:buNone/>
            </a:pPr>
            <a:r>
              <a:rPr lang="en-US" sz="1800" dirty="0">
                <a:cs typeface="Times New Roman" panose="02020603050405020304" pitchFamily="18" charset="0"/>
              </a:rPr>
              <a:t>Agent = A2CAgent(INPUT_SHAPE, ACTION_SIZE, SEED, device, GAMMA, ALPHA, BETA, UPDATE_EVERY, Actor Cnn, Critic Cnn)</a:t>
            </a:r>
          </a:p>
          <a:p>
            <a:pPr marL="0" indent="0" algn="just">
              <a:buNone/>
            </a:pPr>
            <a:endParaRPr lang="en-US" sz="1800" dirty="0">
              <a:cs typeface="Times New Roman" panose="02020603050405020304" pitchFamily="18" charset="0"/>
            </a:endParaRPr>
          </a:p>
          <a:p>
            <a:pPr marL="0" indent="0" algn="just">
              <a:buNone/>
            </a:pPr>
            <a:r>
              <a:rPr lang="en-US" sz="1800" b="1" dirty="0">
                <a:cs typeface="Times New Roman" panose="02020603050405020304" pitchFamily="18" charset="0"/>
              </a:rPr>
              <a:t>DDDQN Training:</a:t>
            </a:r>
          </a:p>
          <a:p>
            <a:pPr marL="0" indent="0" algn="just">
              <a:buNone/>
            </a:pPr>
            <a:r>
              <a:rPr lang="en-US" sz="1800" dirty="0">
                <a:cs typeface="Times New Roman" panose="02020603050405020304" pitchFamily="18" charset="0"/>
              </a:rPr>
              <a:t>def train(self, game, total_episodes = 100, pretrain = 100, frame_skip = 4, enhance = ‘dueling', lr = 1e-4, max_tau = 100, explore_start = 1.0, explore_stop = 0.01, decay_rate = 0.0001, gamma = 0.99, freq = 50, </a:t>
            </a:r>
            <a:r>
              <a:rPr lang="en-US" sz="1800" dirty="0" err="1">
                <a:cs typeface="Times New Roman" panose="02020603050405020304" pitchFamily="18" charset="0"/>
              </a:rPr>
              <a:t>init_zeros</a:t>
            </a:r>
            <a:r>
              <a:rPr lang="en-US" sz="1800" dirty="0">
                <a:cs typeface="Times New Roman" panose="02020603050405020304" pitchFamily="18" charset="0"/>
              </a:rPr>
              <a:t> = False</a:t>
            </a:r>
          </a:p>
          <a:p>
            <a:pPr marL="0" indent="0" algn="just">
              <a:buNone/>
            </a:pPr>
            <a:endParaRPr lang="en-US" sz="1800" dirty="0">
              <a:cs typeface="Times New Roman" panose="02020603050405020304" pitchFamily="18" charset="0"/>
            </a:endParaRPr>
          </a:p>
          <a:p>
            <a:pPr marL="0" indent="0" algn="just">
              <a:buNone/>
            </a:pPr>
            <a:r>
              <a:rPr lang="en-US" sz="1800" b="1" dirty="0">
                <a:cs typeface="Times New Roman" panose="02020603050405020304" pitchFamily="18" charset="0"/>
              </a:rPr>
              <a:t>PPO:</a:t>
            </a:r>
          </a:p>
          <a:p>
            <a:pPr marL="0" indent="0" algn="just">
              <a:buNone/>
            </a:pPr>
            <a:r>
              <a:rPr lang="en-US" sz="1800" dirty="0">
                <a:cs typeface="Times New Roman" panose="02020603050405020304" pitchFamily="18" charset="0"/>
              </a:rPr>
              <a:t>model = PPO(‘</a:t>
            </a:r>
            <a:r>
              <a:rPr lang="en-US" sz="1800" dirty="0" err="1">
                <a:cs typeface="Times New Roman" panose="02020603050405020304" pitchFamily="18" charset="0"/>
              </a:rPr>
              <a:t>Cnn</a:t>
            </a:r>
            <a:r>
              <a:rPr lang="en-US" sz="1800" dirty="0">
                <a:cs typeface="Times New Roman" panose="02020603050405020304" pitchFamily="18" charset="0"/>
              </a:rPr>
              <a:t> Policy', env, </a:t>
            </a:r>
            <a:r>
              <a:rPr lang="en-US" sz="1800" dirty="0" err="1">
                <a:cs typeface="Times New Roman" panose="02020603050405020304" pitchFamily="18" charset="0"/>
              </a:rPr>
              <a:t>tensorboard_log</a:t>
            </a:r>
            <a:r>
              <a:rPr lang="en-US" sz="1800" dirty="0">
                <a:cs typeface="Times New Roman" panose="02020603050405020304" pitchFamily="18" charset="0"/>
              </a:rPr>
              <a:t>=LOG_DIR, verbose=1, </a:t>
            </a:r>
            <a:r>
              <a:rPr lang="en-US" sz="1800" dirty="0" err="1">
                <a:cs typeface="Times New Roman" panose="02020603050405020304" pitchFamily="18" charset="0"/>
              </a:rPr>
              <a:t>learning_rate</a:t>
            </a:r>
            <a:r>
              <a:rPr lang="en-US" sz="1800" dirty="0">
                <a:cs typeface="Times New Roman" panose="02020603050405020304" pitchFamily="18" charset="0"/>
              </a:rPr>
              <a:t>=0.0001, </a:t>
            </a:r>
            <a:r>
              <a:rPr lang="en-US" sz="1800" dirty="0" err="1">
                <a:cs typeface="Times New Roman" panose="02020603050405020304" pitchFamily="18" charset="0"/>
              </a:rPr>
              <a:t>n_steps</a:t>
            </a:r>
            <a:r>
              <a:rPr lang="en-US" sz="1800" dirty="0">
                <a:cs typeface="Times New Roman" panose="02020603050405020304" pitchFamily="18" charset="0"/>
              </a:rPr>
              <a:t>=2048)</a:t>
            </a:r>
          </a:p>
        </p:txBody>
      </p:sp>
    </p:spTree>
    <p:extLst>
      <p:ext uri="{BB962C8B-B14F-4D97-AF65-F5344CB8AC3E}">
        <p14:creationId xmlns:p14="http://schemas.microsoft.com/office/powerpoint/2010/main" val="3432444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ribbon with white text&#10;&#10;Description automatically generated">
            <a:extLst>
              <a:ext uri="{FF2B5EF4-FFF2-40B4-BE49-F238E27FC236}">
                <a16:creationId xmlns:a16="http://schemas.microsoft.com/office/drawing/2014/main" id="{5F1BAB98-EAA9-226E-ABB0-41EE179BD804}"/>
              </a:ext>
            </a:extLst>
          </p:cNvPr>
          <p:cNvPicPr>
            <a:picLocks noChangeAspect="1"/>
          </p:cNvPicPr>
          <p:nvPr/>
        </p:nvPicPr>
        <p:blipFill rotWithShape="1">
          <a:blip r:embed="rId2">
            <a:extLst>
              <a:ext uri="{28A0092B-C50C-407E-A947-70E740481C1C}">
                <a14:useLocalDpi xmlns:a14="http://schemas.microsoft.com/office/drawing/2010/main" val="0"/>
              </a:ext>
            </a:extLst>
          </a:blip>
          <a:srcRect t="13056" r="-2" b="16672"/>
          <a:stretch/>
        </p:blipFill>
        <p:spPr>
          <a:xfrm>
            <a:off x="457200" y="457200"/>
            <a:ext cx="11277600" cy="5943600"/>
          </a:xfrm>
          <a:prstGeom prst="rect">
            <a:avLst/>
          </a:prstGeom>
        </p:spPr>
      </p:pic>
    </p:spTree>
    <p:extLst>
      <p:ext uri="{BB962C8B-B14F-4D97-AF65-F5344CB8AC3E}">
        <p14:creationId xmlns:p14="http://schemas.microsoft.com/office/powerpoint/2010/main" val="403564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1047</TotalTime>
  <Words>984</Words>
  <Application>Microsoft Office PowerPoint</Application>
  <PresentationFormat>Widescreen</PresentationFormat>
  <Paragraphs>94</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Enhancing Agents Performance in VizDoom using Reinforcement Learning</vt:lpstr>
      <vt:lpstr>Introduction: </vt:lpstr>
      <vt:lpstr>Objective: </vt:lpstr>
      <vt:lpstr>Problem Description:</vt:lpstr>
      <vt:lpstr>Methodology:</vt:lpstr>
      <vt:lpstr>Why Advantage Actor Critic (A2C):</vt:lpstr>
      <vt:lpstr>Why Double Dueling Deep Q-Network (DDDQN):</vt:lpstr>
      <vt:lpstr>Basic Scenario</vt:lpstr>
      <vt:lpstr>Defend the Center</vt:lpstr>
      <vt:lpstr>Deadly Corridor</vt:lpstr>
      <vt:lpstr>Graphs of Basic Scenario</vt:lpstr>
      <vt:lpstr>Graphs of Deadly Corridor Scenario </vt:lpstr>
      <vt:lpstr>Graphs of Defend the Center Scenario</vt:lpstr>
      <vt:lpstr>Hyperparameters</vt:lpstr>
      <vt:lpstr>Hyperparameters in Training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Agents Performance in VizDoom using Reinforcement Learning</dc:title>
  <dc:creator>Shakir Jan</dc:creator>
  <cp:lastModifiedBy>01-134202-113</cp:lastModifiedBy>
  <cp:revision>290</cp:revision>
  <dcterms:created xsi:type="dcterms:W3CDTF">2023-10-05T08:59:57Z</dcterms:created>
  <dcterms:modified xsi:type="dcterms:W3CDTF">2025-07-19T17:08:07Z</dcterms:modified>
</cp:coreProperties>
</file>